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5"/>
  </p:notesMasterIdLst>
  <p:sldIdLst>
    <p:sldId id="256" r:id="rId2"/>
    <p:sldId id="260" r:id="rId3"/>
    <p:sldId id="288" r:id="rId4"/>
    <p:sldId id="262" r:id="rId5"/>
    <p:sldId id="285" r:id="rId6"/>
    <p:sldId id="282" r:id="rId7"/>
    <p:sldId id="266" r:id="rId8"/>
    <p:sldId id="268" r:id="rId9"/>
    <p:sldId id="267" r:id="rId10"/>
    <p:sldId id="269" r:id="rId11"/>
    <p:sldId id="270" r:id="rId12"/>
    <p:sldId id="272" r:id="rId13"/>
    <p:sldId id="273" r:id="rId14"/>
    <p:sldId id="274" r:id="rId15"/>
    <p:sldId id="275" r:id="rId16"/>
    <p:sldId id="276" r:id="rId17"/>
    <p:sldId id="277" r:id="rId18"/>
    <p:sldId id="279" r:id="rId19"/>
    <p:sldId id="287" r:id="rId20"/>
    <p:sldId id="289" r:id="rId21"/>
    <p:sldId id="290" r:id="rId22"/>
    <p:sldId id="281" r:id="rId23"/>
    <p:sldId id="259" r:id="rId24"/>
  </p:sldIdLst>
  <p:sldSz cx="12192000" cy="6858000"/>
  <p:notesSz cx="6858000" cy="9144000"/>
  <p:embeddedFontLst>
    <p:embeddedFont>
      <p:font typeface="Algerian" panose="04020705040A02060702" pitchFamily="82" charset="0"/>
      <p:regular r:id="rId26"/>
    </p:embeddedFont>
    <p:embeddedFont>
      <p:font typeface="Libre Baskerville" panose="02000000000000000000" pitchFamily="2"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hnFQsu0qTBRZ+C47HNp0tuHCNko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0" clrIdx="0">
    <p:extLst>
      <p:ext uri="{19B8F6BF-5375-455C-9EA6-DF929625EA0E}">
        <p15:presenceInfo xmlns:p15="http://schemas.microsoft.com/office/powerpoint/2012/main" userId="e1fbe53b63b34d1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F55805-CDE7-4556-912C-5D48A3CA4650}" v="114" dt="2023-11-25T15:28:33.1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65" autoAdjust="0"/>
    <p:restoredTop sz="94660"/>
  </p:normalViewPr>
  <p:slideViewPr>
    <p:cSldViewPr>
      <p:cViewPr>
        <p:scale>
          <a:sx n="65" d="100"/>
          <a:sy n="65" d="100"/>
        </p:scale>
        <p:origin x="40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43" Type="http://customschemas.google.com/relationships/presentationmetadata" Target="meta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lam Tharun" userId="3620a25881a771d5" providerId="Windows Live" clId="Web-{C5F55805-CDE7-4556-912C-5D48A3CA4650}"/>
    <pc:docChg chg="modSld">
      <pc:chgData name="Dulam Tharun" userId="3620a25881a771d5" providerId="Windows Live" clId="Web-{C5F55805-CDE7-4556-912C-5D48A3CA4650}" dt="2023-11-25T15:28:33.166" v="113" actId="14100"/>
      <pc:docMkLst>
        <pc:docMk/>
      </pc:docMkLst>
      <pc:sldChg chg="modSp">
        <pc:chgData name="Dulam Tharun" userId="3620a25881a771d5" providerId="Windows Live" clId="Web-{C5F55805-CDE7-4556-912C-5D48A3CA4650}" dt="2023-11-25T15:28:33.166" v="113" actId="14100"/>
        <pc:sldMkLst>
          <pc:docMk/>
          <pc:sldMk cId="0" sldId="264"/>
        </pc:sldMkLst>
        <pc:spChg chg="mod">
          <ac:chgData name="Dulam Tharun" userId="3620a25881a771d5" providerId="Windows Live" clId="Web-{C5F55805-CDE7-4556-912C-5D48A3CA4650}" dt="2023-11-25T15:28:24.791" v="110" actId="1076"/>
          <ac:spMkLst>
            <pc:docMk/>
            <pc:sldMk cId="0" sldId="264"/>
            <ac:spMk id="2" creationId="{00000000-0000-0000-0000-000000000000}"/>
          </ac:spMkLst>
        </pc:spChg>
        <pc:picChg chg="mod modCrop">
          <ac:chgData name="Dulam Tharun" userId="3620a25881a771d5" providerId="Windows Live" clId="Web-{C5F55805-CDE7-4556-912C-5D48A3CA4650}" dt="2023-11-25T15:28:33.166" v="113" actId="14100"/>
          <ac:picMkLst>
            <pc:docMk/>
            <pc:sldMk cId="0" sldId="264"/>
            <ac:picMk id="4" creationId="{00000000-0000-0000-0000-000000000000}"/>
          </ac:picMkLst>
        </pc:picChg>
      </pc:sldChg>
      <pc:sldChg chg="modSp">
        <pc:chgData name="Dulam Tharun" userId="3620a25881a771d5" providerId="Windows Live" clId="Web-{C5F55805-CDE7-4556-912C-5D48A3CA4650}" dt="2023-11-25T15:26:51.475" v="97" actId="1076"/>
        <pc:sldMkLst>
          <pc:docMk/>
          <pc:sldMk cId="0" sldId="267"/>
        </pc:sldMkLst>
        <pc:spChg chg="mod">
          <ac:chgData name="Dulam Tharun" userId="3620a25881a771d5" providerId="Windows Live" clId="Web-{C5F55805-CDE7-4556-912C-5D48A3CA4650}" dt="2023-11-25T15:26:47.428" v="96" actId="14100"/>
          <ac:spMkLst>
            <pc:docMk/>
            <pc:sldMk cId="0" sldId="267"/>
            <ac:spMk id="3" creationId="{00000000-0000-0000-0000-000000000000}"/>
          </ac:spMkLst>
        </pc:spChg>
        <pc:picChg chg="mod modCrop">
          <ac:chgData name="Dulam Tharun" userId="3620a25881a771d5" providerId="Windows Live" clId="Web-{C5F55805-CDE7-4556-912C-5D48A3CA4650}" dt="2023-11-25T15:26:51.475" v="97" actId="1076"/>
          <ac:picMkLst>
            <pc:docMk/>
            <pc:sldMk cId="0" sldId="267"/>
            <ac:picMk id="4" creationId="{00000000-0000-0000-0000-000000000000}"/>
          </ac:picMkLst>
        </pc:picChg>
        <pc:picChg chg="mod modCrop">
          <ac:chgData name="Dulam Tharun" userId="3620a25881a771d5" providerId="Windows Live" clId="Web-{C5F55805-CDE7-4556-912C-5D48A3CA4650}" dt="2023-11-25T15:26:32.896" v="93" actId="14100"/>
          <ac:picMkLst>
            <pc:docMk/>
            <pc:sldMk cId="0" sldId="267"/>
            <ac:picMk id="5" creationId="{00000000-0000-0000-0000-000000000000}"/>
          </ac:picMkLst>
        </pc:picChg>
      </pc:sldChg>
      <pc:sldChg chg="modSp">
        <pc:chgData name="Dulam Tharun" userId="3620a25881a771d5" providerId="Windows Live" clId="Web-{C5F55805-CDE7-4556-912C-5D48A3CA4650}" dt="2023-11-25T15:27:23.757" v="101" actId="14100"/>
        <pc:sldMkLst>
          <pc:docMk/>
          <pc:sldMk cId="0" sldId="268"/>
        </pc:sldMkLst>
        <pc:picChg chg="mod modCrop">
          <ac:chgData name="Dulam Tharun" userId="3620a25881a771d5" providerId="Windows Live" clId="Web-{C5F55805-CDE7-4556-912C-5D48A3CA4650}" dt="2023-11-25T15:27:23.757" v="101" actId="14100"/>
          <ac:picMkLst>
            <pc:docMk/>
            <pc:sldMk cId="0" sldId="268"/>
            <ac:picMk id="4" creationId="{00000000-0000-0000-0000-000000000000}"/>
          </ac:picMkLst>
        </pc:picChg>
      </pc:sldChg>
      <pc:sldChg chg="modSp">
        <pc:chgData name="Dulam Tharun" userId="3620a25881a771d5" providerId="Windows Live" clId="Web-{C5F55805-CDE7-4556-912C-5D48A3CA4650}" dt="2023-11-25T15:23:21.108" v="72" actId="14100"/>
        <pc:sldMkLst>
          <pc:docMk/>
          <pc:sldMk cId="0" sldId="269"/>
        </pc:sldMkLst>
        <pc:spChg chg="mod">
          <ac:chgData name="Dulam Tharun" userId="3620a25881a771d5" providerId="Windows Live" clId="Web-{C5F55805-CDE7-4556-912C-5D48A3CA4650}" dt="2023-11-25T15:22:30.543" v="66" actId="1076"/>
          <ac:spMkLst>
            <pc:docMk/>
            <pc:sldMk cId="0" sldId="269"/>
            <ac:spMk id="2" creationId="{00000000-0000-0000-0000-000000000000}"/>
          </ac:spMkLst>
        </pc:spChg>
        <pc:picChg chg="mod modCrop">
          <ac:chgData name="Dulam Tharun" userId="3620a25881a771d5" providerId="Windows Live" clId="Web-{C5F55805-CDE7-4556-912C-5D48A3CA4650}" dt="2023-11-25T15:23:21.108" v="72" actId="14100"/>
          <ac:picMkLst>
            <pc:docMk/>
            <pc:sldMk cId="0" sldId="269"/>
            <ac:picMk id="4" creationId="{00000000-0000-0000-0000-000000000000}"/>
          </ac:picMkLst>
        </pc:picChg>
      </pc:sldChg>
      <pc:sldChg chg="modSp">
        <pc:chgData name="Dulam Tharun" userId="3620a25881a771d5" providerId="Windows Live" clId="Web-{C5F55805-CDE7-4556-912C-5D48A3CA4650}" dt="2023-11-25T15:22:00.745" v="65" actId="14100"/>
        <pc:sldMkLst>
          <pc:docMk/>
          <pc:sldMk cId="0" sldId="270"/>
        </pc:sldMkLst>
        <pc:spChg chg="mod">
          <ac:chgData name="Dulam Tharun" userId="3620a25881a771d5" providerId="Windows Live" clId="Web-{C5F55805-CDE7-4556-912C-5D48A3CA4650}" dt="2023-11-25T15:21:19.665" v="59" actId="1076"/>
          <ac:spMkLst>
            <pc:docMk/>
            <pc:sldMk cId="0" sldId="270"/>
            <ac:spMk id="2" creationId="{00000000-0000-0000-0000-000000000000}"/>
          </ac:spMkLst>
        </pc:spChg>
        <pc:picChg chg="mod modCrop">
          <ac:chgData name="Dulam Tharun" userId="3620a25881a771d5" providerId="Windows Live" clId="Web-{C5F55805-CDE7-4556-912C-5D48A3CA4650}" dt="2023-11-25T15:22:00.745" v="65" actId="14100"/>
          <ac:picMkLst>
            <pc:docMk/>
            <pc:sldMk cId="0" sldId="270"/>
            <ac:picMk id="4" creationId="{00000000-0000-0000-0000-000000000000}"/>
          </ac:picMkLst>
        </pc:picChg>
      </pc:sldChg>
      <pc:sldChg chg="modSp">
        <pc:chgData name="Dulam Tharun" userId="3620a25881a771d5" providerId="Windows Live" clId="Web-{C5F55805-CDE7-4556-912C-5D48A3CA4650}" dt="2023-11-25T15:24:01.062" v="79" actId="14100"/>
        <pc:sldMkLst>
          <pc:docMk/>
          <pc:sldMk cId="0" sldId="271"/>
        </pc:sldMkLst>
        <pc:spChg chg="mod">
          <ac:chgData name="Dulam Tharun" userId="3620a25881a771d5" providerId="Windows Live" clId="Web-{C5F55805-CDE7-4556-912C-5D48A3CA4650}" dt="2023-11-25T15:23:33.030" v="73" actId="1076"/>
          <ac:spMkLst>
            <pc:docMk/>
            <pc:sldMk cId="0" sldId="271"/>
            <ac:spMk id="2" creationId="{00000000-0000-0000-0000-000000000000}"/>
          </ac:spMkLst>
        </pc:spChg>
        <pc:picChg chg="mod modCrop">
          <ac:chgData name="Dulam Tharun" userId="3620a25881a771d5" providerId="Windows Live" clId="Web-{C5F55805-CDE7-4556-912C-5D48A3CA4650}" dt="2023-11-25T15:24:01.062" v="79" actId="14100"/>
          <ac:picMkLst>
            <pc:docMk/>
            <pc:sldMk cId="0" sldId="271"/>
            <ac:picMk id="4" creationId="{00000000-0000-0000-0000-000000000000}"/>
          </ac:picMkLst>
        </pc:picChg>
      </pc:sldChg>
      <pc:sldChg chg="modSp">
        <pc:chgData name="Dulam Tharun" userId="3620a25881a771d5" providerId="Windows Live" clId="Web-{C5F55805-CDE7-4556-912C-5D48A3CA4650}" dt="2023-11-25T15:21:09.712" v="58" actId="14100"/>
        <pc:sldMkLst>
          <pc:docMk/>
          <pc:sldMk cId="0" sldId="272"/>
        </pc:sldMkLst>
        <pc:spChg chg="mod">
          <ac:chgData name="Dulam Tharun" userId="3620a25881a771d5" providerId="Windows Live" clId="Web-{C5F55805-CDE7-4556-912C-5D48A3CA4650}" dt="2023-11-25T15:20:21.069" v="50" actId="1076"/>
          <ac:spMkLst>
            <pc:docMk/>
            <pc:sldMk cId="0" sldId="272"/>
            <ac:spMk id="2" creationId="{00000000-0000-0000-0000-000000000000}"/>
          </ac:spMkLst>
        </pc:spChg>
        <pc:spChg chg="mod">
          <ac:chgData name="Dulam Tharun" userId="3620a25881a771d5" providerId="Windows Live" clId="Web-{C5F55805-CDE7-4556-912C-5D48A3CA4650}" dt="2023-11-25T15:20:48.820" v="53" actId="14100"/>
          <ac:spMkLst>
            <pc:docMk/>
            <pc:sldMk cId="0" sldId="272"/>
            <ac:spMk id="3" creationId="{00000000-0000-0000-0000-000000000000}"/>
          </ac:spMkLst>
        </pc:spChg>
        <pc:picChg chg="mod modCrop">
          <ac:chgData name="Dulam Tharun" userId="3620a25881a771d5" providerId="Windows Live" clId="Web-{C5F55805-CDE7-4556-912C-5D48A3CA4650}" dt="2023-11-25T15:21:09.712" v="58" actId="14100"/>
          <ac:picMkLst>
            <pc:docMk/>
            <pc:sldMk cId="0" sldId="272"/>
            <ac:picMk id="4" creationId="{00000000-0000-0000-0000-000000000000}"/>
          </ac:picMkLst>
        </pc:picChg>
      </pc:sldChg>
      <pc:sldChg chg="modSp">
        <pc:chgData name="Dulam Tharun" userId="3620a25881a771d5" providerId="Windows Live" clId="Web-{C5F55805-CDE7-4556-912C-5D48A3CA4650}" dt="2023-11-25T15:20:11.163" v="49" actId="14100"/>
        <pc:sldMkLst>
          <pc:docMk/>
          <pc:sldMk cId="0" sldId="273"/>
        </pc:sldMkLst>
        <pc:spChg chg="mod">
          <ac:chgData name="Dulam Tharun" userId="3620a25881a771d5" providerId="Windows Live" clId="Web-{C5F55805-CDE7-4556-912C-5D48A3CA4650}" dt="2023-11-25T15:19:38.380" v="44" actId="1076"/>
          <ac:spMkLst>
            <pc:docMk/>
            <pc:sldMk cId="0" sldId="273"/>
            <ac:spMk id="2" creationId="{00000000-0000-0000-0000-000000000000}"/>
          </ac:spMkLst>
        </pc:spChg>
        <pc:picChg chg="mod modCrop">
          <ac:chgData name="Dulam Tharun" userId="3620a25881a771d5" providerId="Windows Live" clId="Web-{C5F55805-CDE7-4556-912C-5D48A3CA4650}" dt="2023-11-25T15:20:11.163" v="49" actId="14100"/>
          <ac:picMkLst>
            <pc:docMk/>
            <pc:sldMk cId="0" sldId="273"/>
            <ac:picMk id="4" creationId="{00000000-0000-0000-0000-000000000000}"/>
          </ac:picMkLst>
        </pc:picChg>
      </pc:sldChg>
      <pc:sldChg chg="modSp">
        <pc:chgData name="Dulam Tharun" userId="3620a25881a771d5" providerId="Windows Live" clId="Web-{C5F55805-CDE7-4556-912C-5D48A3CA4650}" dt="2023-11-25T15:19:29.989" v="43" actId="14100"/>
        <pc:sldMkLst>
          <pc:docMk/>
          <pc:sldMk cId="0" sldId="274"/>
        </pc:sldMkLst>
        <pc:spChg chg="mod">
          <ac:chgData name="Dulam Tharun" userId="3620a25881a771d5" providerId="Windows Live" clId="Web-{C5F55805-CDE7-4556-912C-5D48A3CA4650}" dt="2023-11-25T15:18:52.675" v="38" actId="1076"/>
          <ac:spMkLst>
            <pc:docMk/>
            <pc:sldMk cId="0" sldId="274"/>
            <ac:spMk id="2" creationId="{00000000-0000-0000-0000-000000000000}"/>
          </ac:spMkLst>
        </pc:spChg>
        <pc:picChg chg="mod modCrop">
          <ac:chgData name="Dulam Tharun" userId="3620a25881a771d5" providerId="Windows Live" clId="Web-{C5F55805-CDE7-4556-912C-5D48A3CA4650}" dt="2023-11-25T15:19:29.989" v="43" actId="14100"/>
          <ac:picMkLst>
            <pc:docMk/>
            <pc:sldMk cId="0" sldId="274"/>
            <ac:picMk id="4" creationId="{00000000-0000-0000-0000-000000000000}"/>
          </ac:picMkLst>
        </pc:picChg>
      </pc:sldChg>
      <pc:sldChg chg="modSp">
        <pc:chgData name="Dulam Tharun" userId="3620a25881a771d5" providerId="Windows Live" clId="Web-{C5F55805-CDE7-4556-912C-5D48A3CA4650}" dt="2023-11-25T15:18:43.706" v="37" actId="14100"/>
        <pc:sldMkLst>
          <pc:docMk/>
          <pc:sldMk cId="0" sldId="275"/>
        </pc:sldMkLst>
        <pc:spChg chg="mod">
          <ac:chgData name="Dulam Tharun" userId="3620a25881a771d5" providerId="Windows Live" clId="Web-{C5F55805-CDE7-4556-912C-5D48A3CA4650}" dt="2023-11-25T15:18:12.752" v="32" actId="1076"/>
          <ac:spMkLst>
            <pc:docMk/>
            <pc:sldMk cId="0" sldId="275"/>
            <ac:spMk id="2" creationId="{00000000-0000-0000-0000-000000000000}"/>
          </ac:spMkLst>
        </pc:spChg>
        <pc:picChg chg="mod modCrop">
          <ac:chgData name="Dulam Tharun" userId="3620a25881a771d5" providerId="Windows Live" clId="Web-{C5F55805-CDE7-4556-912C-5D48A3CA4650}" dt="2023-11-25T15:18:43.706" v="37" actId="14100"/>
          <ac:picMkLst>
            <pc:docMk/>
            <pc:sldMk cId="0" sldId="275"/>
            <ac:picMk id="4" creationId="{00000000-0000-0000-0000-000000000000}"/>
          </ac:picMkLst>
        </pc:picChg>
      </pc:sldChg>
      <pc:sldChg chg="modSp">
        <pc:chgData name="Dulam Tharun" userId="3620a25881a771d5" providerId="Windows Live" clId="Web-{C5F55805-CDE7-4556-912C-5D48A3CA4650}" dt="2023-11-25T15:18:04.970" v="31" actId="14100"/>
        <pc:sldMkLst>
          <pc:docMk/>
          <pc:sldMk cId="0" sldId="276"/>
        </pc:sldMkLst>
        <pc:spChg chg="mod">
          <ac:chgData name="Dulam Tharun" userId="3620a25881a771d5" providerId="Windows Live" clId="Web-{C5F55805-CDE7-4556-912C-5D48A3CA4650}" dt="2023-11-25T15:17:54.470" v="28" actId="1076"/>
          <ac:spMkLst>
            <pc:docMk/>
            <pc:sldMk cId="0" sldId="276"/>
            <ac:spMk id="2" creationId="{00000000-0000-0000-0000-000000000000}"/>
          </ac:spMkLst>
        </pc:spChg>
        <pc:picChg chg="mod modCrop">
          <ac:chgData name="Dulam Tharun" userId="3620a25881a771d5" providerId="Windows Live" clId="Web-{C5F55805-CDE7-4556-912C-5D48A3CA4650}" dt="2023-11-25T15:18:04.970" v="31" actId="14100"/>
          <ac:picMkLst>
            <pc:docMk/>
            <pc:sldMk cId="0" sldId="276"/>
            <ac:picMk id="4" creationId="{00000000-0000-0000-0000-000000000000}"/>
          </ac:picMkLst>
        </pc:picChg>
      </pc:sldChg>
      <pc:sldChg chg="modSp">
        <pc:chgData name="Dulam Tharun" userId="3620a25881a771d5" providerId="Windows Live" clId="Web-{C5F55805-CDE7-4556-912C-5D48A3CA4650}" dt="2023-11-25T15:16:18.013" v="17" actId="14100"/>
        <pc:sldMkLst>
          <pc:docMk/>
          <pc:sldMk cId="0" sldId="277"/>
        </pc:sldMkLst>
        <pc:spChg chg="mod">
          <ac:chgData name="Dulam Tharun" userId="3620a25881a771d5" providerId="Windows Live" clId="Web-{C5F55805-CDE7-4556-912C-5D48A3CA4650}" dt="2023-11-25T15:16:04.403" v="14" actId="1076"/>
          <ac:spMkLst>
            <pc:docMk/>
            <pc:sldMk cId="0" sldId="277"/>
            <ac:spMk id="2" creationId="{00000000-0000-0000-0000-000000000000}"/>
          </ac:spMkLst>
        </pc:spChg>
        <pc:picChg chg="mod modCrop">
          <ac:chgData name="Dulam Tharun" userId="3620a25881a771d5" providerId="Windows Live" clId="Web-{C5F55805-CDE7-4556-912C-5D48A3CA4650}" dt="2023-11-25T15:16:18.013" v="17" actId="14100"/>
          <ac:picMkLst>
            <pc:docMk/>
            <pc:sldMk cId="0" sldId="277"/>
            <ac:picMk id="4" creationId="{00000000-0000-0000-0000-000000000000}"/>
          </ac:picMkLst>
        </pc:picChg>
      </pc:sldChg>
      <pc:sldChg chg="modSp">
        <pc:chgData name="Dulam Tharun" userId="3620a25881a771d5" providerId="Windows Live" clId="Web-{C5F55805-CDE7-4556-912C-5D48A3CA4650}" dt="2023-11-25T15:17:14.875" v="24" actId="14100"/>
        <pc:sldMkLst>
          <pc:docMk/>
          <pc:sldMk cId="0" sldId="278"/>
        </pc:sldMkLst>
        <pc:spChg chg="mod">
          <ac:chgData name="Dulam Tharun" userId="3620a25881a771d5" providerId="Windows Live" clId="Web-{C5F55805-CDE7-4556-912C-5D48A3CA4650}" dt="2023-11-25T15:16:29.076" v="18" actId="1076"/>
          <ac:spMkLst>
            <pc:docMk/>
            <pc:sldMk cId="0" sldId="278"/>
            <ac:spMk id="2" creationId="{00000000-0000-0000-0000-000000000000}"/>
          </ac:spMkLst>
        </pc:spChg>
        <pc:picChg chg="mod modCrop">
          <ac:chgData name="Dulam Tharun" userId="3620a25881a771d5" providerId="Windows Live" clId="Web-{C5F55805-CDE7-4556-912C-5D48A3CA4650}" dt="2023-11-25T15:17:14.875" v="24" actId="14100"/>
          <ac:picMkLst>
            <pc:docMk/>
            <pc:sldMk cId="0" sldId="278"/>
            <ac:picMk id="4" creationId="{00000000-0000-0000-0000-000000000000}"/>
          </ac:picMkLst>
        </pc:picChg>
      </pc:sldChg>
      <pc:sldChg chg="modSp">
        <pc:chgData name="Dulam Tharun" userId="3620a25881a771d5" providerId="Windows Live" clId="Web-{C5F55805-CDE7-4556-912C-5D48A3CA4650}" dt="2023-11-25T15:15:30.043" v="11" actId="14100"/>
        <pc:sldMkLst>
          <pc:docMk/>
          <pc:sldMk cId="0" sldId="279"/>
        </pc:sldMkLst>
        <pc:spChg chg="mod">
          <ac:chgData name="Dulam Tharun" userId="3620a25881a771d5" providerId="Windows Live" clId="Web-{C5F55805-CDE7-4556-912C-5D48A3CA4650}" dt="2023-11-25T15:15:09.433" v="7" actId="1076"/>
          <ac:spMkLst>
            <pc:docMk/>
            <pc:sldMk cId="0" sldId="279"/>
            <ac:spMk id="2" creationId="{00000000-0000-0000-0000-000000000000}"/>
          </ac:spMkLst>
        </pc:spChg>
        <pc:spChg chg="mod">
          <ac:chgData name="Dulam Tharun" userId="3620a25881a771d5" providerId="Windows Live" clId="Web-{C5F55805-CDE7-4556-912C-5D48A3CA4650}" dt="2023-11-25T15:15:25.886" v="10" actId="14100"/>
          <ac:spMkLst>
            <pc:docMk/>
            <pc:sldMk cId="0" sldId="279"/>
            <ac:spMk id="3" creationId="{00000000-0000-0000-0000-000000000000}"/>
          </ac:spMkLst>
        </pc:spChg>
        <pc:picChg chg="mod modCrop">
          <ac:chgData name="Dulam Tharun" userId="3620a25881a771d5" providerId="Windows Live" clId="Web-{C5F55805-CDE7-4556-912C-5D48A3CA4650}" dt="2023-11-25T15:15:30.043" v="11" actId="14100"/>
          <ac:picMkLst>
            <pc:docMk/>
            <pc:sldMk cId="0" sldId="279"/>
            <ac:picMk id="4" creationId="{00000000-0000-0000-0000-000000000000}"/>
          </ac:picMkLst>
        </pc:picChg>
      </pc:sldChg>
      <pc:sldChg chg="modSp">
        <pc:chgData name="Dulam Tharun" userId="3620a25881a771d5" providerId="Windows Live" clId="Web-{C5F55805-CDE7-4556-912C-5D48A3CA4650}" dt="2023-11-25T15:27:54.868" v="106" actId="14100"/>
        <pc:sldMkLst>
          <pc:docMk/>
          <pc:sldMk cId="0" sldId="282"/>
        </pc:sldMkLst>
        <pc:spChg chg="mod">
          <ac:chgData name="Dulam Tharun" userId="3620a25881a771d5" providerId="Windows Live" clId="Web-{C5F55805-CDE7-4556-912C-5D48A3CA4650}" dt="2023-11-25T15:27:33.633" v="102" actId="1076"/>
          <ac:spMkLst>
            <pc:docMk/>
            <pc:sldMk cId="0" sldId="282"/>
            <ac:spMk id="2" creationId="{00000000-0000-0000-0000-000000000000}"/>
          </ac:spMkLst>
        </pc:spChg>
        <pc:picChg chg="mod modCrop">
          <ac:chgData name="Dulam Tharun" userId="3620a25881a771d5" providerId="Windows Live" clId="Web-{C5F55805-CDE7-4556-912C-5D48A3CA4650}" dt="2023-11-25T15:27:54.868" v="106" actId="14100"/>
          <ac:picMkLst>
            <pc:docMk/>
            <pc:sldMk cId="0" sldId="282"/>
            <ac:picMk id="102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76422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6801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66230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0349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1536673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395912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137967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2574127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270441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1941551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3841035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2096945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186607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2269740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4076293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a:t>
            </a:fld>
            <a:endParaRPr lang="en-IN"/>
          </a:p>
        </p:txBody>
      </p:sp>
    </p:spTree>
    <p:extLst>
      <p:ext uri="{BB962C8B-B14F-4D97-AF65-F5344CB8AC3E}">
        <p14:creationId xmlns:p14="http://schemas.microsoft.com/office/powerpoint/2010/main" val="33863226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43582"/>
            <a:ext cx="12190815" cy="6694098"/>
          </a:xfrm>
          <a:prstGeom prst="rect">
            <a:avLst/>
          </a:prstGeom>
          <a:noFill/>
          <a:ln>
            <a:noFill/>
          </a:ln>
        </p:spPr>
      </p:pic>
      <p:sp>
        <p:nvSpPr>
          <p:cNvPr id="99" name="Google Shape;99;p1"/>
          <p:cNvSpPr txBox="1"/>
          <p:nvPr/>
        </p:nvSpPr>
        <p:spPr>
          <a:xfrm>
            <a:off x="2133600" y="3429000"/>
            <a:ext cx="7246189" cy="1508065"/>
          </a:xfrm>
          <a:prstGeom prst="rect">
            <a:avLst/>
          </a:prstGeom>
          <a:noFill/>
          <a:ln>
            <a:noFill/>
          </a:ln>
        </p:spPr>
        <p:txBody>
          <a:bodyPr spcFirstLastPara="1" wrap="square" lIns="91425" tIns="45700" rIns="91425" bIns="45700" anchor="t" anchorCtr="0">
            <a:spAutoFit/>
          </a:bodyPr>
          <a:lstStyle/>
          <a:p>
            <a:pPr algn="ctr"/>
            <a:br>
              <a:rPr lang="en-IN" sz="1800" b="0" i="0" u="none" strike="noStrike" cap="none" dirty="0">
                <a:solidFill>
                  <a:schemeClr val="dk1"/>
                </a:solidFill>
                <a:latin typeface="Calibri"/>
                <a:ea typeface="Calibri"/>
                <a:cs typeface="Calibri"/>
                <a:sym typeface="Calibri"/>
              </a:rPr>
            </a:br>
            <a:endParaRPr lang="en-IN" sz="1800" b="0" i="0" u="none" strike="noStrike" cap="none" dirty="0">
              <a:solidFill>
                <a:schemeClr val="dk1"/>
              </a:solidFill>
              <a:latin typeface="Calibri"/>
              <a:ea typeface="Calibri"/>
              <a:cs typeface="Calibri"/>
              <a:sym typeface="Calibri"/>
            </a:endParaRPr>
          </a:p>
          <a:p>
            <a:pPr algn="ctr"/>
            <a:r>
              <a:rPr lang="en-US" sz="2800" b="1" dirty="0"/>
              <a:t>Second Hand Bike Markets Insights &amp; Price Intelligence Using Web Scraping</a:t>
            </a:r>
            <a:endParaRPr lang="en-IN" sz="2800" b="1" dirty="0">
              <a:solidFill>
                <a:schemeClr val="tx1"/>
              </a:solidFill>
              <a:latin typeface="Algerian" panose="04020705040A02060702" pitchFamily="82" charset="0"/>
            </a:endParaRPr>
          </a:p>
        </p:txBody>
      </p:sp>
      <p:sp>
        <p:nvSpPr>
          <p:cNvPr id="4" name="TextBox 3"/>
          <p:cNvSpPr txBox="1"/>
          <p:nvPr/>
        </p:nvSpPr>
        <p:spPr>
          <a:xfrm>
            <a:off x="8382000" y="5029200"/>
            <a:ext cx="3505200" cy="1154162"/>
          </a:xfrm>
          <a:prstGeom prst="rect">
            <a:avLst/>
          </a:prstGeom>
          <a:noFill/>
        </p:spPr>
        <p:txBody>
          <a:bodyPr wrap="square" rtlCol="0">
            <a:spAutoFit/>
          </a:bodyPr>
          <a:lstStyle/>
          <a:p>
            <a:r>
              <a:rPr lang="en-US" sz="2500" b="1" dirty="0">
                <a:solidFill>
                  <a:srgbClr val="FF0000"/>
                </a:solidFill>
                <a:latin typeface="Arial" panose="020B0604020202020204" pitchFamily="34" charset="0"/>
                <a:cs typeface="Arial" panose="020B0604020202020204" pitchFamily="34" charset="0"/>
              </a:rPr>
              <a:t>Presented By:</a:t>
            </a:r>
          </a:p>
          <a:p>
            <a:r>
              <a:rPr lang="en-US" sz="2200" dirty="0">
                <a:latin typeface="Arial" panose="020B0604020202020204" pitchFamily="34" charset="0"/>
                <a:cs typeface="Arial" panose="020B0604020202020204" pitchFamily="34" charset="0"/>
              </a:rPr>
              <a:t>M. </a:t>
            </a:r>
            <a:r>
              <a:rPr lang="en-US" sz="2200" dirty="0" err="1">
                <a:latin typeface="Arial" panose="020B0604020202020204" pitchFamily="34" charset="0"/>
                <a:cs typeface="Arial" panose="020B0604020202020204" pitchFamily="34" charset="0"/>
              </a:rPr>
              <a:t>SivaKumar</a:t>
            </a:r>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Batch: 442</a:t>
            </a:r>
          </a:p>
        </p:txBody>
      </p:sp>
      <p:pic>
        <p:nvPicPr>
          <p:cNvPr id="6" name="object 4" descr="Innomatics Research labs - Crunchbase Company Profile &amp; Funding"/>
          <p:cNvPicPr/>
          <p:nvPr/>
        </p:nvPicPr>
        <p:blipFill>
          <a:blip r:embed="rId4" cstate="print"/>
          <a:stretch>
            <a:fillRect/>
          </a:stretch>
        </p:blipFill>
        <p:spPr>
          <a:xfrm>
            <a:off x="9601200" y="6238964"/>
            <a:ext cx="2333625" cy="4286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94005"/>
            <a:ext cx="10744200" cy="1325563"/>
          </a:xfrm>
        </p:spPr>
        <p:txBody>
          <a:bodyPr/>
          <a:lstStyle/>
          <a:p>
            <a:r>
              <a:rPr lang="en-US" b="1" dirty="0">
                <a:solidFill>
                  <a:srgbClr val="FF0000"/>
                </a:solidFill>
              </a:rPr>
              <a:t>Agenda</a:t>
            </a:r>
          </a:p>
        </p:txBody>
      </p:sp>
      <p:sp>
        <p:nvSpPr>
          <p:cNvPr id="3" name="Text Placeholder 2"/>
          <p:cNvSpPr>
            <a:spLocks noGrp="1"/>
          </p:cNvSpPr>
          <p:nvPr>
            <p:ph idx="1"/>
          </p:nvPr>
        </p:nvSpPr>
        <p:spPr>
          <a:xfrm>
            <a:off x="609600" y="1447800"/>
            <a:ext cx="10820400" cy="4881563"/>
          </a:xfrm>
        </p:spPr>
        <p:txBody>
          <a:bodyPr>
            <a:normAutofit/>
          </a:bodyPr>
          <a:lstStyle/>
          <a:p>
            <a:pPr>
              <a:lnSpc>
                <a:spcPct val="120000"/>
              </a:lnSpc>
            </a:pPr>
            <a:r>
              <a:rPr lang="en-US" dirty="0">
                <a:latin typeface="Arial" panose="020B0604020202020204" pitchFamily="34" charset="0"/>
                <a:cs typeface="Arial" panose="020B0604020202020204" pitchFamily="34" charset="0"/>
              </a:rPr>
              <a:t>Business problem</a:t>
            </a:r>
          </a:p>
          <a:p>
            <a:pPr>
              <a:lnSpc>
                <a:spcPct val="120000"/>
              </a:lnSpc>
            </a:pPr>
            <a:r>
              <a:rPr lang="en-US" dirty="0">
                <a:latin typeface="Arial" panose="020B0604020202020204" pitchFamily="34" charset="0"/>
                <a:cs typeface="Arial" panose="020B0604020202020204" pitchFamily="34" charset="0"/>
              </a:rPr>
              <a:t>Problem Statement</a:t>
            </a:r>
          </a:p>
          <a:p>
            <a:pPr>
              <a:lnSpc>
                <a:spcPct val="120000"/>
              </a:lnSpc>
            </a:pPr>
            <a:r>
              <a:rPr lang="en-US" dirty="0">
                <a:latin typeface="Arial" panose="020B0604020202020204" pitchFamily="34" charset="0"/>
                <a:cs typeface="Arial" panose="020B0604020202020204" pitchFamily="34" charset="0"/>
              </a:rPr>
              <a:t>Data Preprocessing</a:t>
            </a:r>
          </a:p>
          <a:p>
            <a:pPr>
              <a:lnSpc>
                <a:spcPct val="120000"/>
              </a:lnSpc>
            </a:pPr>
            <a:r>
              <a:rPr lang="en-US" dirty="0">
                <a:latin typeface="Arial" panose="020B0604020202020204" pitchFamily="34" charset="0"/>
                <a:cs typeface="Arial" panose="020B0604020202020204" pitchFamily="34" charset="0"/>
              </a:rPr>
              <a:t>Cleaned Data</a:t>
            </a:r>
          </a:p>
          <a:p>
            <a:pPr>
              <a:lnSpc>
                <a:spcPct val="120000"/>
              </a:lnSpc>
            </a:pPr>
            <a:r>
              <a:rPr lang="en-US" dirty="0">
                <a:latin typeface="Arial" panose="020B0604020202020204" pitchFamily="34" charset="0"/>
                <a:cs typeface="Arial" panose="020B0604020202020204" pitchFamily="34" charset="0"/>
              </a:rPr>
              <a:t>Data Visualization</a:t>
            </a:r>
          </a:p>
          <a:p>
            <a:pPr>
              <a:lnSpc>
                <a:spcPct val="120000"/>
              </a:lnSpc>
            </a:pPr>
            <a:r>
              <a:rPr lang="en-US" dirty="0">
                <a:latin typeface="Arial" panose="020B0604020202020204" pitchFamily="34" charset="0"/>
                <a:cs typeface="Arial" panose="020B0604020202020204" pitchFamily="34" charset="0"/>
              </a:rPr>
              <a:t>Hypothesis testing</a:t>
            </a:r>
          </a:p>
          <a:p>
            <a:pPr>
              <a:lnSpc>
                <a:spcPct val="120000"/>
              </a:lnSpc>
            </a:pPr>
            <a:r>
              <a:rPr lang="en-US" sz="3000" dirty="0">
                <a:latin typeface="Arial" panose="020B0604020202020204" pitchFamily="34" charset="0"/>
                <a:cs typeface="Arial" panose="020B0604020202020204" pitchFamily="34" charset="0"/>
              </a:rPr>
              <a:t>Conclusion</a:t>
            </a:r>
          </a:p>
          <a:p>
            <a:pPr>
              <a:lnSpc>
                <a:spcPct val="120000"/>
              </a:lnSpc>
            </a:pPr>
            <a:endParaRPr lang="en-US" sz="2400" dirty="0">
              <a:latin typeface="Arial" panose="020B0604020202020204" pitchFamily="34" charset="0"/>
              <a:cs typeface="Arial" panose="020B0604020202020204" pitchFamily="34" charset="0"/>
            </a:endParaRPr>
          </a:p>
          <a:p>
            <a:endParaRPr lang="en-US" dirty="0"/>
          </a:p>
        </p:txBody>
      </p:sp>
      <p:pic>
        <p:nvPicPr>
          <p:cNvPr id="6" name="object 4" descr="Innomatics Research labs - Crunchbase Company Profile &amp; Funding"/>
          <p:cNvPicPr/>
          <p:nvPr/>
        </p:nvPicPr>
        <p:blipFill>
          <a:blip r:embed="rId2" cstate="print"/>
          <a:stretch>
            <a:fillRect/>
          </a:stretch>
        </p:blipFill>
        <p:spPr>
          <a:xfrm>
            <a:off x="9525000" y="6115050"/>
            <a:ext cx="2333625" cy="428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1778-1AA7-C792-3576-FF4A4E6A6C4E}"/>
              </a:ext>
            </a:extLst>
          </p:cNvPr>
          <p:cNvSpPr>
            <a:spLocks noGrp="1"/>
          </p:cNvSpPr>
          <p:nvPr>
            <p:ph type="title"/>
          </p:nvPr>
        </p:nvSpPr>
        <p:spPr/>
        <p:txBody>
          <a:bodyPr/>
          <a:lstStyle/>
          <a:p>
            <a:r>
              <a:rPr lang="en-US" b="1" dirty="0">
                <a:solidFill>
                  <a:srgbClr val="C00000"/>
                </a:solidFill>
              </a:rPr>
              <a:t>Business problem</a:t>
            </a:r>
            <a:endParaRPr lang="en-IN" b="1" dirty="0">
              <a:solidFill>
                <a:srgbClr val="C00000"/>
              </a:solidFill>
            </a:endParaRPr>
          </a:p>
        </p:txBody>
      </p:sp>
      <p:sp>
        <p:nvSpPr>
          <p:cNvPr id="3" name="Content Placeholder 2">
            <a:extLst>
              <a:ext uri="{FF2B5EF4-FFF2-40B4-BE49-F238E27FC236}">
                <a16:creationId xmlns:a16="http://schemas.microsoft.com/office/drawing/2014/main" id="{ED3AE63B-839C-A2FE-D21A-1A85D8477756}"/>
              </a:ext>
            </a:extLst>
          </p:cNvPr>
          <p:cNvSpPr>
            <a:spLocks noGrp="1"/>
          </p:cNvSpPr>
          <p:nvPr>
            <p:ph idx="1"/>
          </p:nvPr>
        </p:nvSpPr>
        <p:spPr/>
        <p:txBody>
          <a:bodyPr/>
          <a:lstStyle/>
          <a:p>
            <a:r>
              <a:rPr lang="en-US" dirty="0"/>
              <a:t>The second-hand bike market operates in a largely unorganized and data-poor environment where prices are set inconsistently due to the absence of standardized valuation methods and reliable market intelligence. This leads to reduced customer trust, inefficient pricing strategies for sellers and dealers, and missed revenue opportunities for online resale platforms. Businesses therefore struggle to make informed, data-driven decisions about pricing, demand forecasting, and competitive positioning in the resale market.</a:t>
            </a:r>
            <a:endParaRPr lang="en-IN" dirty="0"/>
          </a:p>
        </p:txBody>
      </p:sp>
    </p:spTree>
    <p:extLst>
      <p:ext uri="{BB962C8B-B14F-4D97-AF65-F5344CB8AC3E}">
        <p14:creationId xmlns:p14="http://schemas.microsoft.com/office/powerpoint/2010/main" val="1049674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Problem statement:</a:t>
            </a:r>
          </a:p>
        </p:txBody>
      </p:sp>
      <p:sp>
        <p:nvSpPr>
          <p:cNvPr id="3" name="Text Placeholder 2"/>
          <p:cNvSpPr>
            <a:spLocks noGrp="1"/>
          </p:cNvSpPr>
          <p:nvPr>
            <p:ph idx="1"/>
          </p:nvPr>
        </p:nvSpPr>
        <p:spPr>
          <a:xfrm>
            <a:off x="838200" y="1676400"/>
            <a:ext cx="10210800" cy="4571999"/>
          </a:xfrm>
        </p:spPr>
        <p:txBody>
          <a:bodyPr/>
          <a:lstStyle/>
          <a:p>
            <a:r>
              <a:rPr lang="en-US" dirty="0"/>
              <a:t>Prospective buyers of second-hand bikes face the risk of overpaying due to information asymmetry and the difficulty of assessing a bike's true worth from listed prices. This project tackles this problem by deconstructing the factors that influence resale value. Through exploratory data analysis and </a:t>
            </a:r>
            <a:r>
              <a:rPr lang="en-US" dirty="0" err="1"/>
              <a:t>visualisation</a:t>
            </a:r>
            <a:r>
              <a:rPr lang="en-US" dirty="0"/>
              <a:t> , we provide a clear framework for buyers to identify fairly priced bikes and negotiate effectively, ensuring they get the best value for their money.</a:t>
            </a:r>
          </a:p>
          <a:p>
            <a:endParaRPr lang="en-US" dirty="0"/>
          </a:p>
        </p:txBody>
      </p:sp>
      <p:pic>
        <p:nvPicPr>
          <p:cNvPr id="4" name="object 4" descr="Innomatics Research labs - Crunchbase Company Profile &amp; Funding"/>
          <p:cNvPicPr/>
          <p:nvPr/>
        </p:nvPicPr>
        <p:blipFill>
          <a:blip r:embed="rId2" cstate="print"/>
          <a:stretch>
            <a:fillRect/>
          </a:stretch>
        </p:blipFill>
        <p:spPr>
          <a:xfrm>
            <a:off x="9372600" y="5943600"/>
            <a:ext cx="2333625" cy="4286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Motives</a:t>
            </a:r>
          </a:p>
        </p:txBody>
      </p:sp>
      <p:sp>
        <p:nvSpPr>
          <p:cNvPr id="3" name="Text Placeholder 2"/>
          <p:cNvSpPr>
            <a:spLocks noGrp="1"/>
          </p:cNvSpPr>
          <p:nvPr>
            <p:ph idx="1"/>
          </p:nvPr>
        </p:nvSpPr>
        <p:spPr/>
        <p:txBody>
          <a:bodyPr>
            <a:normAutofit/>
          </a:bodyPr>
          <a:lstStyle/>
          <a:p>
            <a:r>
              <a:rPr lang="en-US" sz="3600" dirty="0"/>
              <a:t>What amount is required to buy a vehicle (second hand)?</a:t>
            </a:r>
          </a:p>
          <a:p>
            <a:r>
              <a:rPr lang="en-US" sz="3600" dirty="0"/>
              <a:t>How Registered year impact price of the vehicle.</a:t>
            </a:r>
          </a:p>
          <a:p>
            <a:r>
              <a:rPr lang="en-US" sz="3600" dirty="0"/>
              <a:t>Which Vehicle to choose an over-travelled one  or the vehicle that has travelled less Km’s.</a:t>
            </a:r>
          </a:p>
          <a:p>
            <a:r>
              <a:rPr lang="en-US" sz="3600" dirty="0"/>
              <a:t>What should your trust (brand or Service)?</a:t>
            </a:r>
          </a:p>
          <a:p>
            <a:r>
              <a:rPr lang="en-US" sz="3600" dirty="0"/>
              <a:t>Where to look for more options?</a:t>
            </a:r>
          </a:p>
        </p:txBody>
      </p:sp>
      <p:pic>
        <p:nvPicPr>
          <p:cNvPr id="4" name="object 4" descr="Innomatics Research labs - Crunchbase Company Profile &amp; Funding"/>
          <p:cNvPicPr/>
          <p:nvPr/>
        </p:nvPicPr>
        <p:blipFill>
          <a:blip r:embed="rId2" cstate="print"/>
          <a:stretch>
            <a:fillRect/>
          </a:stretch>
        </p:blipFill>
        <p:spPr>
          <a:xfrm>
            <a:off x="9448800" y="6141403"/>
            <a:ext cx="2333625" cy="4286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942"/>
            <a:ext cx="10515600" cy="777875"/>
          </a:xfrm>
        </p:spPr>
        <p:txBody>
          <a:bodyPr/>
          <a:lstStyle/>
          <a:p>
            <a:r>
              <a:rPr lang="en-US" dirty="0">
                <a:solidFill>
                  <a:srgbClr val="FF0000"/>
                </a:solidFill>
              </a:rPr>
              <a:t>Raw Data </a:t>
            </a:r>
          </a:p>
        </p:txBody>
      </p:sp>
      <p:pic>
        <p:nvPicPr>
          <p:cNvPr id="3" name="Picture 2"/>
          <p:cNvPicPr>
            <a:picLocks noChangeAspect="1" noChangeArrowheads="1"/>
          </p:cNvPicPr>
          <p:nvPr/>
        </p:nvPicPr>
        <p:blipFill>
          <a:blip r:embed="rId2"/>
          <a:srcRect/>
          <a:stretch>
            <a:fillRect/>
          </a:stretch>
        </p:blipFill>
        <p:spPr bwMode="auto">
          <a:xfrm>
            <a:off x="838200" y="838200"/>
            <a:ext cx="10591800" cy="5334000"/>
          </a:xfrm>
          <a:prstGeom prst="rect">
            <a:avLst/>
          </a:prstGeom>
          <a:noFill/>
          <a:ln w="9525">
            <a:noFill/>
            <a:miter lim="800000"/>
            <a:headEnd/>
            <a:tailEnd/>
          </a:ln>
          <a:effectLst/>
        </p:spPr>
      </p:pic>
      <p:pic>
        <p:nvPicPr>
          <p:cNvPr id="4" name="object 4" descr="Innomatics Research labs - Crunchbase Company Profile &amp; Funding"/>
          <p:cNvPicPr/>
          <p:nvPr/>
        </p:nvPicPr>
        <p:blipFill>
          <a:blip r:embed="rId3" cstate="print"/>
          <a:stretch>
            <a:fillRect/>
          </a:stretch>
        </p:blipFill>
        <p:spPr>
          <a:xfrm>
            <a:off x="9601200" y="6248400"/>
            <a:ext cx="2333625" cy="428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0275"/>
          </a:xfrm>
        </p:spPr>
        <p:txBody>
          <a:bodyPr/>
          <a:lstStyle/>
          <a:p>
            <a:pPr>
              <a:lnSpc>
                <a:spcPct val="120000"/>
              </a:lnSpc>
            </a:pP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Data preprocessing</a:t>
            </a:r>
          </a:p>
        </p:txBody>
      </p:sp>
      <p:sp>
        <p:nvSpPr>
          <p:cNvPr id="3" name="Text Placeholder 2"/>
          <p:cNvSpPr>
            <a:spLocks noGrp="1"/>
          </p:cNvSpPr>
          <p:nvPr>
            <p:ph idx="1"/>
          </p:nvPr>
        </p:nvSpPr>
        <p:spPr>
          <a:xfrm>
            <a:off x="838200" y="1524000"/>
            <a:ext cx="10515600" cy="4652963"/>
          </a:xfrm>
        </p:spPr>
        <p:txBody>
          <a:bodyPr>
            <a:normAutofit/>
          </a:bodyPr>
          <a:lstStyle/>
          <a:p>
            <a:r>
              <a:rPr lang="en-US" sz="2400" dirty="0"/>
              <a:t>After executing the program , created a DataFrame using dictionary and check whether the data inside it is cleaned or not . </a:t>
            </a:r>
          </a:p>
          <a:p>
            <a:r>
              <a:rPr lang="en-US" sz="2400" dirty="0"/>
              <a:t>For cleaning the data in the dataframe ,check for the null values and duplicate data, if all the null values in columns is zero then it is appropriate for further processing.</a:t>
            </a:r>
          </a:p>
          <a:p>
            <a:r>
              <a:rPr lang="en-US" sz="2400" dirty="0"/>
              <a:t>Cleaned text data by removing unnecessary whitespaces, special characters, and HTML tags from text data and removed irrelevant information using Regex.</a:t>
            </a:r>
          </a:p>
          <a:p>
            <a:r>
              <a:rPr lang="en-US" sz="2400" dirty="0"/>
              <a:t>Removed \n,\div, rupee symbol . Extracted  Brand and year for product.</a:t>
            </a:r>
          </a:p>
          <a:p>
            <a:r>
              <a:rPr lang="en-US" sz="2400" dirty="0"/>
              <a:t>Converted the data types. By default all the types of columns are objects, changed according to the column like float32 or int32 etc..</a:t>
            </a:r>
          </a:p>
          <a:p>
            <a:r>
              <a:rPr lang="en-US" sz="2400" dirty="0"/>
              <a:t>Check the shape of the database and saved the cleaned data into csv.</a:t>
            </a:r>
          </a:p>
        </p:txBody>
      </p:sp>
      <p:pic>
        <p:nvPicPr>
          <p:cNvPr id="4" name="object 4" descr="Innomatics Research labs - Crunchbase Company Profile &amp; Funding"/>
          <p:cNvPicPr/>
          <p:nvPr/>
        </p:nvPicPr>
        <p:blipFill>
          <a:blip r:embed="rId2" cstate="print"/>
          <a:stretch>
            <a:fillRect/>
          </a:stretch>
        </p:blipFill>
        <p:spPr>
          <a:xfrm>
            <a:off x="9601200" y="6176963"/>
            <a:ext cx="2333625" cy="4286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1"/>
            <a:ext cx="10515600" cy="609600"/>
          </a:xfrm>
        </p:spPr>
        <p:txBody>
          <a:bodyPr>
            <a:noAutofit/>
          </a:bodyPr>
          <a:lstStyle/>
          <a:p>
            <a:r>
              <a:rPr lang="en-US" b="1" dirty="0">
                <a:solidFill>
                  <a:srgbClr val="FF0000"/>
                </a:solidFill>
              </a:rPr>
              <a:t>Quick view of Cleaned data </a:t>
            </a:r>
          </a:p>
        </p:txBody>
      </p:sp>
      <p:pic>
        <p:nvPicPr>
          <p:cNvPr id="3" name="Picture 2"/>
          <p:cNvPicPr>
            <a:picLocks noChangeAspect="1" noChangeArrowheads="1"/>
          </p:cNvPicPr>
          <p:nvPr/>
        </p:nvPicPr>
        <p:blipFill>
          <a:blip r:embed="rId2"/>
          <a:srcRect/>
          <a:stretch>
            <a:fillRect/>
          </a:stretch>
        </p:blipFill>
        <p:spPr bwMode="auto">
          <a:xfrm>
            <a:off x="838200" y="1143000"/>
            <a:ext cx="10896600" cy="5029200"/>
          </a:xfrm>
          <a:prstGeom prst="rect">
            <a:avLst/>
          </a:prstGeom>
          <a:noFill/>
          <a:ln w="9525">
            <a:noFill/>
            <a:miter lim="800000"/>
            <a:headEnd/>
            <a:tailEnd/>
          </a:ln>
          <a:effectLst/>
        </p:spPr>
      </p:pic>
      <p:pic>
        <p:nvPicPr>
          <p:cNvPr id="4"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1"/>
            <a:ext cx="10515600" cy="914399"/>
          </a:xfrm>
        </p:spPr>
        <p:txBody>
          <a:bodyPr/>
          <a:lstStyle/>
          <a:p>
            <a:r>
              <a:rPr lang="en-US" b="1" dirty="0">
                <a:solidFill>
                  <a:srgbClr val="FF0000"/>
                </a:solidFill>
              </a:rPr>
              <a:t>Type and shape of data </a:t>
            </a:r>
          </a:p>
        </p:txBody>
      </p:sp>
      <p:sp>
        <p:nvSpPr>
          <p:cNvPr id="3" name="Text Placeholder 2"/>
          <p:cNvSpPr>
            <a:spLocks noGrp="1"/>
          </p:cNvSpPr>
          <p:nvPr>
            <p:ph idx="1"/>
          </p:nvPr>
        </p:nvSpPr>
        <p:spPr>
          <a:xfrm>
            <a:off x="1243885" y="1071092"/>
            <a:ext cx="9105362" cy="3603335"/>
          </a:xfrm>
        </p:spPr>
        <p:txBody>
          <a:bodyPr>
            <a:normAutofit/>
          </a:bodyPr>
          <a:lstStyle/>
          <a:p>
            <a:endParaRPr lang="en-US" dirty="0"/>
          </a:p>
        </p:txBody>
      </p:sp>
      <p:pic>
        <p:nvPicPr>
          <p:cNvPr id="3074" name="Picture 2"/>
          <p:cNvPicPr>
            <a:picLocks noChangeAspect="1" noChangeArrowheads="1"/>
          </p:cNvPicPr>
          <p:nvPr/>
        </p:nvPicPr>
        <p:blipFill>
          <a:blip r:embed="rId2"/>
          <a:srcRect/>
          <a:stretch>
            <a:fillRect/>
          </a:stretch>
        </p:blipFill>
        <p:spPr bwMode="auto">
          <a:xfrm>
            <a:off x="5562600" y="838200"/>
            <a:ext cx="5287963" cy="4285906"/>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57200" y="1066800"/>
            <a:ext cx="4876800" cy="1794395"/>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a:srcRect/>
          <a:stretch>
            <a:fillRect/>
          </a:stretch>
        </p:blipFill>
        <p:spPr bwMode="auto">
          <a:xfrm>
            <a:off x="609600" y="3200400"/>
            <a:ext cx="4648200" cy="3162300"/>
          </a:xfrm>
          <a:prstGeom prst="rect">
            <a:avLst/>
          </a:prstGeom>
          <a:noFill/>
          <a:ln w="9525">
            <a:noFill/>
            <a:miter lim="800000"/>
            <a:headEnd/>
            <a:tailEnd/>
          </a:ln>
          <a:effectLst/>
        </p:spPr>
      </p:pic>
      <p:pic>
        <p:nvPicPr>
          <p:cNvPr id="7" name="object 4" descr="Innomatics Research labs - Crunchbase Company Profile &amp; Funding"/>
          <p:cNvPicPr/>
          <p:nvPr/>
        </p:nvPicPr>
        <p:blipFill>
          <a:blip r:embed="rId5" cstate="print"/>
          <a:stretch>
            <a:fillRect/>
          </a:stretch>
        </p:blipFill>
        <p:spPr>
          <a:xfrm>
            <a:off x="9648825" y="6276975"/>
            <a:ext cx="2333625" cy="428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304799"/>
            <a:ext cx="6629400" cy="1295400"/>
          </a:xfrm>
        </p:spPr>
        <p:txBody>
          <a:bodyPr/>
          <a:lstStyle/>
          <a:p>
            <a:r>
              <a:rPr lang="en-US" dirty="0"/>
              <a:t>Finding correlation of data</a:t>
            </a:r>
          </a:p>
        </p:txBody>
      </p:sp>
      <p:pic>
        <p:nvPicPr>
          <p:cNvPr id="5122" name="Picture 2"/>
          <p:cNvPicPr>
            <a:picLocks noChangeAspect="1" noChangeArrowheads="1"/>
          </p:cNvPicPr>
          <p:nvPr/>
        </p:nvPicPr>
        <p:blipFill>
          <a:blip r:embed="rId2"/>
          <a:srcRect/>
          <a:stretch>
            <a:fillRect/>
          </a:stretch>
        </p:blipFill>
        <p:spPr bwMode="auto">
          <a:xfrm>
            <a:off x="0" y="1219200"/>
            <a:ext cx="8991600" cy="5181600"/>
          </a:xfrm>
          <a:prstGeom prst="rect">
            <a:avLst/>
          </a:prstGeom>
          <a:noFill/>
          <a:ln w="9525">
            <a:noFill/>
            <a:miter lim="800000"/>
            <a:headEnd/>
            <a:tailEnd/>
          </a:ln>
          <a:effectLst/>
        </p:spPr>
      </p:pic>
      <p:sp>
        <p:nvSpPr>
          <p:cNvPr id="6" name="TextBox 5"/>
          <p:cNvSpPr txBox="1"/>
          <p:nvPr/>
        </p:nvSpPr>
        <p:spPr>
          <a:xfrm>
            <a:off x="9067800" y="1600200"/>
            <a:ext cx="2895600" cy="2862322"/>
          </a:xfrm>
          <a:prstGeom prst="rect">
            <a:avLst/>
          </a:prstGeom>
          <a:noFill/>
        </p:spPr>
        <p:txBody>
          <a:bodyPr wrap="square" rtlCol="0">
            <a:spAutoFit/>
          </a:bodyPr>
          <a:lstStyle/>
          <a:p>
            <a:r>
              <a:rPr lang="en-US" sz="2000" b="1" dirty="0"/>
              <a:t>* KM driven are impacting price negatively(Weak)</a:t>
            </a:r>
          </a:p>
          <a:p>
            <a:endParaRPr lang="en-US" sz="2000" b="1" dirty="0"/>
          </a:p>
          <a:p>
            <a:r>
              <a:rPr lang="en-US" sz="2000" b="1" dirty="0"/>
              <a:t>* Year of the registration is impacting the price of the Positively(moderate).</a:t>
            </a:r>
          </a:p>
        </p:txBody>
      </p:sp>
      <p:pic>
        <p:nvPicPr>
          <p:cNvPr id="5"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
        <p:nvSpPr>
          <p:cNvPr id="3" name="TextBox 2">
            <a:extLst>
              <a:ext uri="{FF2B5EF4-FFF2-40B4-BE49-F238E27FC236}">
                <a16:creationId xmlns:a16="http://schemas.microsoft.com/office/drawing/2014/main" id="{7276349D-34E1-5E1C-9B76-89FCF2A80E22}"/>
              </a:ext>
            </a:extLst>
          </p:cNvPr>
          <p:cNvSpPr txBox="1"/>
          <p:nvPr/>
        </p:nvSpPr>
        <p:spPr>
          <a:xfrm>
            <a:off x="762000" y="643235"/>
            <a:ext cx="3276600" cy="461665"/>
          </a:xfrm>
          <a:prstGeom prst="rect">
            <a:avLst/>
          </a:prstGeom>
          <a:noFill/>
        </p:spPr>
        <p:txBody>
          <a:bodyPr wrap="square" rtlCol="0">
            <a:spAutoFit/>
          </a:bodyPr>
          <a:lstStyle/>
          <a:p>
            <a:r>
              <a:rPr lang="en-US" sz="2400" b="1" dirty="0">
                <a:solidFill>
                  <a:srgbClr val="C00000"/>
                </a:solidFill>
              </a:rPr>
              <a:t>Multi variate analysis</a:t>
            </a:r>
            <a:endParaRPr lang="en-IN" sz="2400" b="1" dirty="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4"/>
            <a:ext cx="10972800" cy="1325563"/>
          </a:xfrm>
        </p:spPr>
        <p:txBody>
          <a:bodyPr>
            <a:normAutofit fontScale="90000"/>
          </a:bodyPr>
          <a:lstStyle/>
          <a:p>
            <a:r>
              <a:rPr lang="en-US" dirty="0"/>
              <a:t>What is the average price of second hand bike and Evaluate the reason for such price(high or low)?</a:t>
            </a:r>
          </a:p>
        </p:txBody>
      </p:sp>
      <p:pic>
        <p:nvPicPr>
          <p:cNvPr id="1026" name="Picture 2"/>
          <p:cNvPicPr>
            <a:picLocks noChangeAspect="1" noChangeArrowheads="1"/>
          </p:cNvPicPr>
          <p:nvPr/>
        </p:nvPicPr>
        <p:blipFill>
          <a:blip r:embed="rId3"/>
          <a:srcRect/>
          <a:stretch>
            <a:fillRect/>
          </a:stretch>
        </p:blipFill>
        <p:spPr bwMode="auto">
          <a:xfrm>
            <a:off x="0" y="2031478"/>
            <a:ext cx="9067800" cy="4493147"/>
          </a:xfrm>
          <a:prstGeom prst="rect">
            <a:avLst/>
          </a:prstGeom>
          <a:noFill/>
          <a:ln w="9525">
            <a:noFill/>
            <a:miter lim="800000"/>
            <a:headEnd/>
            <a:tailEnd/>
          </a:ln>
          <a:effectLst/>
        </p:spPr>
      </p:pic>
      <p:sp>
        <p:nvSpPr>
          <p:cNvPr id="5" name="TextBox 4"/>
          <p:cNvSpPr txBox="1"/>
          <p:nvPr/>
        </p:nvSpPr>
        <p:spPr>
          <a:xfrm>
            <a:off x="9220200" y="1447800"/>
            <a:ext cx="2971800" cy="4401205"/>
          </a:xfrm>
          <a:prstGeom prst="rect">
            <a:avLst/>
          </a:prstGeom>
          <a:noFill/>
        </p:spPr>
        <p:txBody>
          <a:bodyPr wrap="square" rtlCol="0">
            <a:spAutoFit/>
          </a:bodyPr>
          <a:lstStyle/>
          <a:p>
            <a:pPr>
              <a:buFont typeface="Arial" charset="0"/>
              <a:buChar char="•"/>
            </a:pPr>
            <a:r>
              <a:rPr lang="en-US" sz="2000" dirty="0"/>
              <a:t>Average Price of a bike is Rs.96800</a:t>
            </a:r>
          </a:p>
          <a:p>
            <a:pPr>
              <a:buFont typeface="Arial" charset="0"/>
              <a:buChar char="•"/>
            </a:pPr>
            <a:r>
              <a:rPr lang="en-US" sz="2000" dirty="0"/>
              <a:t> Most of the bikes cost range from Rs.25000 to Rs.200000</a:t>
            </a:r>
          </a:p>
          <a:p>
            <a:pPr>
              <a:buFont typeface="Arial" charset="0"/>
              <a:buChar char="•"/>
            </a:pPr>
            <a:r>
              <a:rPr lang="en-US" sz="2000" dirty="0"/>
              <a:t> There are High Expensive Bikes beyond Rs.400000</a:t>
            </a:r>
          </a:p>
          <a:p>
            <a:pPr>
              <a:buFont typeface="Arial" charset="0"/>
              <a:buChar char="•"/>
            </a:pPr>
            <a:r>
              <a:rPr lang="en-US" sz="2000" dirty="0"/>
              <a:t>The cost of the most expensive is Rs.850000*</a:t>
            </a:r>
          </a:p>
          <a:p>
            <a:pPr>
              <a:buFont typeface="Arial" charset="0"/>
              <a:buChar char="•"/>
            </a:pPr>
            <a:r>
              <a:rPr lang="en-US" sz="2000" dirty="0"/>
              <a:t>Excluding expensive bikes average price of a bike is Rs.66000.</a:t>
            </a:r>
          </a:p>
        </p:txBody>
      </p:sp>
      <p:pic>
        <p:nvPicPr>
          <p:cNvPr id="6" name="object 4" descr="Innomatics Research labs - Crunchbase Company Profile &amp; Funding"/>
          <p:cNvPicPr/>
          <p:nvPr/>
        </p:nvPicPr>
        <p:blipFill>
          <a:blip r:embed="rId4" cstate="print"/>
          <a:stretch>
            <a:fillRect/>
          </a:stretch>
        </p:blipFill>
        <p:spPr>
          <a:xfrm>
            <a:off x="9648825" y="6276975"/>
            <a:ext cx="2333625" cy="428625"/>
          </a:xfrm>
          <a:prstGeom prst="rect">
            <a:avLst/>
          </a:prstGeom>
        </p:spPr>
      </p:pic>
      <p:sp>
        <p:nvSpPr>
          <p:cNvPr id="3" name="TextBox 2">
            <a:extLst>
              <a:ext uri="{FF2B5EF4-FFF2-40B4-BE49-F238E27FC236}">
                <a16:creationId xmlns:a16="http://schemas.microsoft.com/office/drawing/2014/main" id="{4B2E9094-3B93-BE26-0084-C0AE5DA42067}"/>
              </a:ext>
            </a:extLst>
          </p:cNvPr>
          <p:cNvSpPr txBox="1"/>
          <p:nvPr/>
        </p:nvSpPr>
        <p:spPr>
          <a:xfrm>
            <a:off x="381000" y="1447800"/>
            <a:ext cx="3733800" cy="461665"/>
          </a:xfrm>
          <a:prstGeom prst="rect">
            <a:avLst/>
          </a:prstGeom>
          <a:noFill/>
        </p:spPr>
        <p:txBody>
          <a:bodyPr wrap="square" rtlCol="0">
            <a:spAutoFit/>
          </a:bodyPr>
          <a:lstStyle/>
          <a:p>
            <a:r>
              <a:rPr lang="en-US" sz="2400" b="1" dirty="0">
                <a:solidFill>
                  <a:srgbClr val="C00000"/>
                </a:solidFill>
              </a:rPr>
              <a:t>Univariate Analysis</a:t>
            </a:r>
            <a:endParaRPr lang="en-IN" sz="2400" b="1" dirty="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10515600" cy="1066800"/>
          </a:xfrm>
        </p:spPr>
        <p:txBody>
          <a:bodyPr/>
          <a:lstStyle/>
          <a:p>
            <a:r>
              <a:rPr lang="en-US" dirty="0"/>
              <a:t>What are those Expensive Bikes?</a:t>
            </a:r>
          </a:p>
        </p:txBody>
      </p:sp>
      <p:sp>
        <p:nvSpPr>
          <p:cNvPr id="3" name="Text Placeholder 2"/>
          <p:cNvSpPr>
            <a:spLocks noGrp="1"/>
          </p:cNvSpPr>
          <p:nvPr>
            <p:ph idx="1"/>
          </p:nvPr>
        </p:nvSpPr>
        <p:spPr>
          <a:xfrm>
            <a:off x="838200" y="1331935"/>
            <a:ext cx="10515600" cy="4845028"/>
          </a:xfrm>
        </p:spPr>
        <p:txBody>
          <a:bodyPr/>
          <a:lstStyle/>
          <a:p>
            <a:endParaRPr lang="en-US" dirty="0"/>
          </a:p>
        </p:txBody>
      </p:sp>
      <p:pic>
        <p:nvPicPr>
          <p:cNvPr id="2050" name="Picture 2"/>
          <p:cNvPicPr>
            <a:picLocks noChangeAspect="1" noChangeArrowheads="1"/>
          </p:cNvPicPr>
          <p:nvPr/>
        </p:nvPicPr>
        <p:blipFill>
          <a:blip r:embed="rId2"/>
          <a:srcRect/>
          <a:stretch>
            <a:fillRect/>
          </a:stretch>
        </p:blipFill>
        <p:spPr bwMode="auto">
          <a:xfrm>
            <a:off x="0" y="1331934"/>
            <a:ext cx="12192000" cy="4752953"/>
          </a:xfrm>
          <a:prstGeom prst="rect">
            <a:avLst/>
          </a:prstGeom>
          <a:noFill/>
          <a:ln w="9525">
            <a:noFill/>
            <a:miter lim="800000"/>
            <a:headEnd/>
            <a:tailEnd/>
          </a:ln>
          <a:effectLst/>
        </p:spPr>
      </p:pic>
      <p:sp>
        <p:nvSpPr>
          <p:cNvPr id="7" name="TextBox 6"/>
          <p:cNvSpPr txBox="1"/>
          <p:nvPr/>
        </p:nvSpPr>
        <p:spPr>
          <a:xfrm>
            <a:off x="0" y="6096000"/>
            <a:ext cx="10134600" cy="923330"/>
          </a:xfrm>
          <a:prstGeom prst="rect">
            <a:avLst/>
          </a:prstGeom>
          <a:noFill/>
        </p:spPr>
        <p:txBody>
          <a:bodyPr wrap="square" rtlCol="0">
            <a:spAutoFit/>
          </a:bodyPr>
          <a:lstStyle/>
          <a:p>
            <a:r>
              <a:rPr lang="en-US" sz="2000" b="1" dirty="0" err="1"/>
              <a:t>Ducati,Kawasaki,Harley,BMW,Benelli</a:t>
            </a:r>
            <a:r>
              <a:rPr lang="en-US" sz="2000" b="1" dirty="0"/>
              <a:t> brand has the highest priced vehicle (</a:t>
            </a:r>
            <a:r>
              <a:rPr lang="en-US" sz="2000" b="1" dirty="0" err="1"/>
              <a:t>Avg:Rs</a:t>
            </a:r>
            <a:r>
              <a:rPr lang="en-US" sz="2000" b="1" dirty="0"/>
              <a:t> 496666)</a:t>
            </a:r>
          </a:p>
          <a:p>
            <a:endParaRPr lang="en-US" dirty="0"/>
          </a:p>
        </p:txBody>
      </p:sp>
      <p:pic>
        <p:nvPicPr>
          <p:cNvPr id="8"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
        <p:nvSpPr>
          <p:cNvPr id="4" name="TextBox 3">
            <a:extLst>
              <a:ext uri="{FF2B5EF4-FFF2-40B4-BE49-F238E27FC236}">
                <a16:creationId xmlns:a16="http://schemas.microsoft.com/office/drawing/2014/main" id="{DEC9D07F-7786-3034-01F6-4483C17F7D72}"/>
              </a:ext>
            </a:extLst>
          </p:cNvPr>
          <p:cNvSpPr txBox="1"/>
          <p:nvPr/>
        </p:nvSpPr>
        <p:spPr>
          <a:xfrm rot="10800000" flipV="1">
            <a:off x="838200" y="772368"/>
            <a:ext cx="4495800" cy="461665"/>
          </a:xfrm>
          <a:prstGeom prst="rect">
            <a:avLst/>
          </a:prstGeom>
          <a:noFill/>
        </p:spPr>
        <p:txBody>
          <a:bodyPr wrap="square" rtlCol="0">
            <a:spAutoFit/>
          </a:bodyPr>
          <a:lstStyle/>
          <a:p>
            <a:r>
              <a:rPr lang="en-US" sz="2400" b="1" dirty="0">
                <a:solidFill>
                  <a:srgbClr val="C00000"/>
                </a:solidFill>
              </a:rPr>
              <a:t>Univariate Analysis</a:t>
            </a:r>
            <a:endParaRPr lang="en-IN" sz="2400" b="1" dirty="0">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4"/>
            <a:ext cx="10515600" cy="1325563"/>
          </a:xfrm>
        </p:spPr>
        <p:txBody>
          <a:bodyPr/>
          <a:lstStyle/>
          <a:p>
            <a:r>
              <a:rPr lang="en-US" dirty="0"/>
              <a:t>Listings of bikes in different brands</a:t>
            </a:r>
          </a:p>
        </p:txBody>
      </p:sp>
      <p:sp>
        <p:nvSpPr>
          <p:cNvPr id="5" name="Text Placeholder 4"/>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0" y="1336675"/>
            <a:ext cx="10668000" cy="4191000"/>
          </a:xfrm>
          <a:prstGeom prst="rect">
            <a:avLst/>
          </a:prstGeom>
          <a:noFill/>
          <a:ln w="9525">
            <a:noFill/>
            <a:miter lim="800000"/>
            <a:headEnd/>
            <a:tailEnd/>
          </a:ln>
          <a:effectLst/>
        </p:spPr>
      </p:pic>
      <p:sp>
        <p:nvSpPr>
          <p:cNvPr id="8" name="TextBox 7"/>
          <p:cNvSpPr txBox="1"/>
          <p:nvPr/>
        </p:nvSpPr>
        <p:spPr>
          <a:xfrm>
            <a:off x="152400" y="5638800"/>
            <a:ext cx="6477000" cy="707886"/>
          </a:xfrm>
          <a:prstGeom prst="rect">
            <a:avLst/>
          </a:prstGeom>
          <a:noFill/>
        </p:spPr>
        <p:txBody>
          <a:bodyPr wrap="square" rtlCol="0">
            <a:spAutoFit/>
          </a:bodyPr>
          <a:lstStyle/>
          <a:p>
            <a:r>
              <a:rPr lang="en-US" dirty="0"/>
              <a:t>* </a:t>
            </a:r>
            <a:r>
              <a:rPr lang="en-US" sz="2000" b="1" dirty="0"/>
              <a:t>More vehicles are available in Bajaj(210) brand followed by Honda(188) , Royal Enfield(158) , TVS</a:t>
            </a:r>
          </a:p>
        </p:txBody>
      </p:sp>
      <p:pic>
        <p:nvPicPr>
          <p:cNvPr id="6"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5"/>
            <a:ext cx="10210800" cy="761776"/>
          </a:xfrm>
        </p:spPr>
        <p:txBody>
          <a:bodyPr/>
          <a:lstStyle/>
          <a:p>
            <a:r>
              <a:rPr lang="en-US" dirty="0"/>
              <a:t>Taking Year into consideration</a:t>
            </a:r>
          </a:p>
        </p:txBody>
      </p:sp>
      <p:pic>
        <p:nvPicPr>
          <p:cNvPr id="3074" name="Picture 2"/>
          <p:cNvPicPr>
            <a:picLocks noChangeAspect="1" noChangeArrowheads="1"/>
          </p:cNvPicPr>
          <p:nvPr/>
        </p:nvPicPr>
        <p:blipFill>
          <a:blip r:embed="rId2"/>
          <a:srcRect/>
          <a:stretch>
            <a:fillRect/>
          </a:stretch>
        </p:blipFill>
        <p:spPr bwMode="auto">
          <a:xfrm>
            <a:off x="0" y="1831780"/>
            <a:ext cx="8369300" cy="5234962"/>
          </a:xfrm>
          <a:prstGeom prst="rect">
            <a:avLst/>
          </a:prstGeom>
          <a:noFill/>
          <a:ln w="9525">
            <a:noFill/>
            <a:miter lim="800000"/>
            <a:headEnd/>
            <a:tailEnd/>
          </a:ln>
          <a:effectLst/>
        </p:spPr>
      </p:pic>
      <p:sp>
        <p:nvSpPr>
          <p:cNvPr id="6" name="TextBox 5"/>
          <p:cNvSpPr txBox="1"/>
          <p:nvPr/>
        </p:nvSpPr>
        <p:spPr>
          <a:xfrm>
            <a:off x="8610600" y="1981200"/>
            <a:ext cx="3352800" cy="3477875"/>
          </a:xfrm>
          <a:prstGeom prst="rect">
            <a:avLst/>
          </a:prstGeom>
          <a:noFill/>
        </p:spPr>
        <p:txBody>
          <a:bodyPr wrap="square" rtlCol="0">
            <a:spAutoFit/>
          </a:bodyPr>
          <a:lstStyle/>
          <a:p>
            <a:pPr>
              <a:buFont typeface="Arial" charset="0"/>
              <a:buChar char="•"/>
            </a:pPr>
            <a:r>
              <a:rPr lang="en-US" sz="2000" b="1" dirty="0"/>
              <a:t>when we ignore outliers the graph indicates a positive curve which indicates .</a:t>
            </a:r>
          </a:p>
          <a:p>
            <a:endParaRPr lang="en-US" sz="2000" b="1" dirty="0"/>
          </a:p>
          <a:p>
            <a:pPr>
              <a:buFont typeface="Arial" charset="0"/>
              <a:buChar char="•"/>
            </a:pPr>
            <a:r>
              <a:rPr lang="en-US" sz="2000" b="1" dirty="0"/>
              <a:t> The latest bikes are costly than the old bikes.</a:t>
            </a:r>
          </a:p>
          <a:p>
            <a:endParaRPr lang="en-US" sz="2000" b="1" dirty="0"/>
          </a:p>
          <a:p>
            <a:pPr>
              <a:buFont typeface="Arial" charset="0"/>
              <a:buChar char="•"/>
            </a:pPr>
            <a:r>
              <a:rPr lang="en-US" sz="2000" b="1" dirty="0"/>
              <a:t> If you want to own a latest bike you have to pay more</a:t>
            </a:r>
          </a:p>
        </p:txBody>
      </p:sp>
      <p:pic>
        <p:nvPicPr>
          <p:cNvPr id="7"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
        <p:nvSpPr>
          <p:cNvPr id="3" name="TextBox 2">
            <a:extLst>
              <a:ext uri="{FF2B5EF4-FFF2-40B4-BE49-F238E27FC236}">
                <a16:creationId xmlns:a16="http://schemas.microsoft.com/office/drawing/2014/main" id="{97130A6C-AB7A-DF79-6C67-8C0E320CE230}"/>
              </a:ext>
            </a:extLst>
          </p:cNvPr>
          <p:cNvSpPr txBox="1"/>
          <p:nvPr/>
        </p:nvSpPr>
        <p:spPr>
          <a:xfrm rot="10800000" flipV="1">
            <a:off x="1143000" y="1066057"/>
            <a:ext cx="3308931" cy="461665"/>
          </a:xfrm>
          <a:prstGeom prst="rect">
            <a:avLst/>
          </a:prstGeom>
          <a:noFill/>
        </p:spPr>
        <p:txBody>
          <a:bodyPr wrap="square" rtlCol="0">
            <a:spAutoFit/>
          </a:bodyPr>
          <a:lstStyle/>
          <a:p>
            <a:r>
              <a:rPr lang="en-US" sz="2400" b="1" dirty="0">
                <a:solidFill>
                  <a:srgbClr val="C00000"/>
                </a:solidFill>
              </a:rPr>
              <a:t>Bivariate Analysis</a:t>
            </a:r>
            <a:endParaRPr lang="en-IN" sz="2400" b="1" dirty="0">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10515600" cy="1325563"/>
          </a:xfrm>
        </p:spPr>
        <p:txBody>
          <a:bodyPr/>
          <a:lstStyle/>
          <a:p>
            <a:r>
              <a:rPr lang="en-US" dirty="0"/>
              <a:t>Range of bikes price based on brand?</a:t>
            </a:r>
          </a:p>
        </p:txBody>
      </p:sp>
      <p:pic>
        <p:nvPicPr>
          <p:cNvPr id="4098" name="Picture 2"/>
          <p:cNvPicPr>
            <a:picLocks noChangeAspect="1" noChangeArrowheads="1"/>
          </p:cNvPicPr>
          <p:nvPr/>
        </p:nvPicPr>
        <p:blipFill>
          <a:blip r:embed="rId2"/>
          <a:srcRect/>
          <a:stretch>
            <a:fillRect/>
          </a:stretch>
        </p:blipFill>
        <p:spPr bwMode="auto">
          <a:xfrm>
            <a:off x="0" y="609600"/>
            <a:ext cx="12192000" cy="5103586"/>
          </a:xfrm>
          <a:prstGeom prst="rect">
            <a:avLst/>
          </a:prstGeom>
          <a:noFill/>
          <a:ln w="9525">
            <a:noFill/>
            <a:miter lim="800000"/>
            <a:headEnd/>
            <a:tailEnd/>
          </a:ln>
          <a:effectLst/>
        </p:spPr>
      </p:pic>
      <p:sp>
        <p:nvSpPr>
          <p:cNvPr id="7" name="TextBox 6"/>
          <p:cNvSpPr txBox="1"/>
          <p:nvPr/>
        </p:nvSpPr>
        <p:spPr>
          <a:xfrm>
            <a:off x="0" y="5715000"/>
            <a:ext cx="9372600" cy="1200329"/>
          </a:xfrm>
          <a:prstGeom prst="rect">
            <a:avLst/>
          </a:prstGeom>
          <a:noFill/>
        </p:spPr>
        <p:txBody>
          <a:bodyPr wrap="square" rtlCol="0">
            <a:spAutoFit/>
          </a:bodyPr>
          <a:lstStyle/>
          <a:p>
            <a:pPr>
              <a:buFont typeface="Arial" charset="0"/>
              <a:buChar char="•"/>
            </a:pPr>
            <a:r>
              <a:rPr lang="en-US" sz="1800" b="1" dirty="0"/>
              <a:t>Brand is highly </a:t>
            </a:r>
            <a:r>
              <a:rPr lang="en-US" sz="1800" b="1" dirty="0" err="1"/>
              <a:t>influensing</a:t>
            </a:r>
            <a:r>
              <a:rPr lang="en-US" sz="1800" b="1" dirty="0"/>
              <a:t> Price of a bike</a:t>
            </a:r>
          </a:p>
          <a:p>
            <a:pPr>
              <a:buFont typeface="Arial" charset="0"/>
              <a:buChar char="•"/>
            </a:pPr>
            <a:r>
              <a:rPr lang="en-US" sz="1800" b="1" dirty="0"/>
              <a:t>Harley bike starting range is more than price is 300000</a:t>
            </a:r>
          </a:p>
          <a:p>
            <a:pPr>
              <a:buFont typeface="Arial" charset="0"/>
              <a:buChar char="•"/>
            </a:pPr>
            <a:r>
              <a:rPr lang="en-US" sz="1800" b="1" dirty="0"/>
              <a:t> </a:t>
            </a:r>
            <a:r>
              <a:rPr lang="en-US" sz="1800" b="1" dirty="0" err="1"/>
              <a:t>kawasaki,Benelli,Hyosung</a:t>
            </a:r>
            <a:r>
              <a:rPr lang="en-US" sz="1800" b="1" dirty="0"/>
              <a:t> bike starting range is more than price is 200000</a:t>
            </a:r>
          </a:p>
          <a:p>
            <a:pPr>
              <a:buFont typeface="Arial" charset="0"/>
              <a:buChar char="•"/>
            </a:pPr>
            <a:r>
              <a:rPr lang="en-US" sz="1800" b="1" dirty="0"/>
              <a:t> Most of the bike brands cost is below 200000</a:t>
            </a:r>
          </a:p>
        </p:txBody>
      </p:sp>
      <p:pic>
        <p:nvPicPr>
          <p:cNvPr id="6"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153"/>
            <a:ext cx="10515600" cy="1325563"/>
          </a:xfrm>
        </p:spPr>
        <p:txBody>
          <a:bodyPr/>
          <a:lstStyle/>
          <a:p>
            <a:r>
              <a:rPr lang="en-US" dirty="0"/>
              <a:t>Top performing Brands</a:t>
            </a:r>
            <a:br>
              <a:rPr lang="en-US" dirty="0"/>
            </a:br>
            <a:endParaRPr lang="en-US" dirty="0"/>
          </a:p>
        </p:txBody>
      </p:sp>
      <p:pic>
        <p:nvPicPr>
          <p:cNvPr id="13314" name="Picture 2"/>
          <p:cNvPicPr>
            <a:picLocks noChangeAspect="1" noChangeArrowheads="1"/>
          </p:cNvPicPr>
          <p:nvPr/>
        </p:nvPicPr>
        <p:blipFill>
          <a:blip r:embed="rId2"/>
          <a:srcRect/>
          <a:stretch>
            <a:fillRect/>
          </a:stretch>
        </p:blipFill>
        <p:spPr bwMode="auto">
          <a:xfrm>
            <a:off x="0" y="685800"/>
            <a:ext cx="12192000" cy="4953000"/>
          </a:xfrm>
          <a:prstGeom prst="rect">
            <a:avLst/>
          </a:prstGeom>
          <a:noFill/>
          <a:ln w="9525">
            <a:noFill/>
            <a:miter lim="800000"/>
            <a:headEnd/>
            <a:tailEnd/>
          </a:ln>
          <a:effectLst/>
        </p:spPr>
      </p:pic>
      <p:sp>
        <p:nvSpPr>
          <p:cNvPr id="5" name="TextBox 4"/>
          <p:cNvSpPr txBox="1"/>
          <p:nvPr/>
        </p:nvSpPr>
        <p:spPr>
          <a:xfrm>
            <a:off x="0" y="5638800"/>
            <a:ext cx="8991600" cy="1477328"/>
          </a:xfrm>
          <a:prstGeom prst="rect">
            <a:avLst/>
          </a:prstGeom>
          <a:noFill/>
        </p:spPr>
        <p:txBody>
          <a:bodyPr wrap="square" rtlCol="0">
            <a:spAutoFit/>
          </a:bodyPr>
          <a:lstStyle/>
          <a:p>
            <a:r>
              <a:rPr lang="en-US" sz="1800" b="1" dirty="0">
                <a:solidFill>
                  <a:schemeClr val="tx1"/>
                </a:solidFill>
              </a:rPr>
              <a:t>A Suzuki vehicle has travelled around 2LAkh KM's. (penetrated brand : Bajaj, Service : Suzuki)</a:t>
            </a:r>
          </a:p>
          <a:p>
            <a:r>
              <a:rPr lang="en-US" sz="1800" b="1" dirty="0">
                <a:solidFill>
                  <a:schemeClr val="tx1"/>
                </a:solidFill>
              </a:rPr>
              <a:t>Honda and Royal Enfield vehicle has travelled nearly 1,25,000.</a:t>
            </a:r>
          </a:p>
          <a:p>
            <a:r>
              <a:rPr lang="en-US" sz="1800" b="1" dirty="0">
                <a:solidFill>
                  <a:schemeClr val="tx1"/>
                </a:solidFill>
              </a:rPr>
              <a:t>If we choose these vehicles to buy for second hand they might be worthy</a:t>
            </a:r>
          </a:p>
          <a:p>
            <a:endParaRPr lang="en-US" sz="1800" b="1" dirty="0">
              <a:solidFill>
                <a:schemeClr val="tx1"/>
              </a:solidFill>
            </a:endParaRPr>
          </a:p>
        </p:txBody>
      </p:sp>
      <p:pic>
        <p:nvPicPr>
          <p:cNvPr id="7"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3153"/>
            <a:ext cx="11353800" cy="947447"/>
          </a:xfrm>
        </p:spPr>
        <p:txBody>
          <a:bodyPr>
            <a:normAutofit fontScale="90000"/>
          </a:bodyPr>
          <a:lstStyle/>
          <a:p>
            <a:pPr algn="ctr"/>
            <a:r>
              <a:rPr lang="en-US" dirty="0"/>
              <a:t>Year </a:t>
            </a:r>
            <a:r>
              <a:rPr lang="en-US" dirty="0" err="1"/>
              <a:t>vs</a:t>
            </a:r>
            <a:r>
              <a:rPr lang="en-US" dirty="0"/>
              <a:t> Price</a:t>
            </a:r>
            <a:br>
              <a:rPr lang="en-US" dirty="0"/>
            </a:br>
            <a:endParaRPr lang="en-US" dirty="0"/>
          </a:p>
        </p:txBody>
      </p:sp>
      <p:sp>
        <p:nvSpPr>
          <p:cNvPr id="5" name="Text Placeholder 4"/>
          <p:cNvSpPr>
            <a:spLocks noGrp="1"/>
          </p:cNvSpPr>
          <p:nvPr>
            <p:ph idx="1"/>
          </p:nvPr>
        </p:nvSpPr>
        <p:spPr>
          <a:xfrm>
            <a:off x="838200" y="2133599"/>
            <a:ext cx="10515600" cy="4043363"/>
          </a:xfrm>
        </p:spPr>
        <p:txBody>
          <a:bodyPr/>
          <a:lstStyle/>
          <a:p>
            <a:endParaRPr lang="en-US" dirty="0"/>
          </a:p>
        </p:txBody>
      </p:sp>
      <p:pic>
        <p:nvPicPr>
          <p:cNvPr id="11265" name="Picture 1"/>
          <p:cNvPicPr>
            <a:picLocks noChangeAspect="1" noChangeArrowheads="1"/>
          </p:cNvPicPr>
          <p:nvPr/>
        </p:nvPicPr>
        <p:blipFill>
          <a:blip r:embed="rId2"/>
          <a:srcRect/>
          <a:stretch>
            <a:fillRect/>
          </a:stretch>
        </p:blipFill>
        <p:spPr bwMode="auto">
          <a:xfrm>
            <a:off x="0" y="838200"/>
            <a:ext cx="10114512" cy="5334000"/>
          </a:xfrm>
          <a:prstGeom prst="rect">
            <a:avLst/>
          </a:prstGeom>
          <a:noFill/>
          <a:ln w="9525">
            <a:noFill/>
            <a:miter lim="800000"/>
            <a:headEnd/>
            <a:tailEnd/>
          </a:ln>
          <a:effectLst/>
        </p:spPr>
      </p:pic>
      <p:pic>
        <p:nvPicPr>
          <p:cNvPr id="7"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538" y="224"/>
            <a:ext cx="10515600" cy="1325563"/>
          </a:xfrm>
        </p:spPr>
        <p:txBody>
          <a:bodyPr/>
          <a:lstStyle/>
          <a:p>
            <a:r>
              <a:rPr lang="en-US" dirty="0"/>
              <a:t>Where you might get more options?</a:t>
            </a:r>
          </a:p>
        </p:txBody>
      </p:sp>
      <p:sp>
        <p:nvSpPr>
          <p:cNvPr id="3" name="Text Placeholder 2"/>
          <p:cNvSpPr>
            <a:spLocks noGrp="1"/>
          </p:cNvSpPr>
          <p:nvPr>
            <p:ph idx="1"/>
          </p:nvPr>
        </p:nvSpPr>
        <p:spPr>
          <a:xfrm>
            <a:off x="838200" y="1256809"/>
            <a:ext cx="10515600" cy="4920154"/>
          </a:xfrm>
        </p:spPr>
        <p:txBody>
          <a:bodyPr/>
          <a:lstStyle/>
          <a:p>
            <a:endParaRPr lang="en-US" dirty="0"/>
          </a:p>
        </p:txBody>
      </p:sp>
      <p:pic>
        <p:nvPicPr>
          <p:cNvPr id="10241" name="Picture 1"/>
          <p:cNvPicPr>
            <a:picLocks noChangeAspect="1" noChangeArrowheads="1"/>
          </p:cNvPicPr>
          <p:nvPr/>
        </p:nvPicPr>
        <p:blipFill>
          <a:blip r:embed="rId2"/>
          <a:srcRect/>
          <a:stretch>
            <a:fillRect/>
          </a:stretch>
        </p:blipFill>
        <p:spPr bwMode="auto">
          <a:xfrm>
            <a:off x="0" y="1143000"/>
            <a:ext cx="12039599" cy="4876799"/>
          </a:xfrm>
          <a:prstGeom prst="rect">
            <a:avLst/>
          </a:prstGeom>
          <a:noFill/>
          <a:ln w="9525">
            <a:noFill/>
            <a:miter lim="800000"/>
            <a:headEnd/>
            <a:tailEnd/>
          </a:ln>
          <a:effectLst/>
        </p:spPr>
      </p:pic>
      <p:pic>
        <p:nvPicPr>
          <p:cNvPr id="10242" name="Picture 2"/>
          <p:cNvPicPr>
            <a:picLocks noChangeAspect="1" noChangeArrowheads="1"/>
          </p:cNvPicPr>
          <p:nvPr/>
        </p:nvPicPr>
        <p:blipFill>
          <a:blip r:embed="rId3"/>
          <a:srcRect/>
          <a:stretch>
            <a:fillRect/>
          </a:stretch>
        </p:blipFill>
        <p:spPr bwMode="auto">
          <a:xfrm>
            <a:off x="0" y="5257800"/>
            <a:ext cx="8991600" cy="1600200"/>
          </a:xfrm>
          <a:prstGeom prst="rect">
            <a:avLst/>
          </a:prstGeom>
          <a:noFill/>
          <a:ln w="9525">
            <a:noFill/>
            <a:miter lim="800000"/>
            <a:headEnd/>
            <a:tailEnd/>
          </a:ln>
          <a:effectLst/>
        </p:spPr>
      </p:pic>
      <p:pic>
        <p:nvPicPr>
          <p:cNvPr id="7" name="object 4" descr="Innomatics Research labs - Crunchbase Company Profile &amp; Funding"/>
          <p:cNvPicPr/>
          <p:nvPr/>
        </p:nvPicPr>
        <p:blipFill>
          <a:blip r:embed="rId4" cstate="print"/>
          <a:stretch>
            <a:fillRect/>
          </a:stretch>
        </p:blipFill>
        <p:spPr>
          <a:xfrm>
            <a:off x="9648825" y="6276975"/>
            <a:ext cx="2333625" cy="4286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When the budget is between 20 thousand to 50 thousand what are the brands available in this budget?</a:t>
            </a:r>
            <a:br>
              <a:rPr lang="en-US" dirty="0"/>
            </a:br>
            <a:endParaRPr lang="en-US" dirty="0"/>
          </a:p>
        </p:txBody>
      </p:sp>
      <p:pic>
        <p:nvPicPr>
          <p:cNvPr id="5122" name="Picture 2"/>
          <p:cNvPicPr>
            <a:picLocks noChangeAspect="1" noChangeArrowheads="1"/>
          </p:cNvPicPr>
          <p:nvPr/>
        </p:nvPicPr>
        <p:blipFill>
          <a:blip r:embed="rId2"/>
          <a:srcRect/>
          <a:stretch>
            <a:fillRect/>
          </a:stretch>
        </p:blipFill>
        <p:spPr bwMode="auto">
          <a:xfrm>
            <a:off x="0" y="1598613"/>
            <a:ext cx="8659813" cy="3667125"/>
          </a:xfrm>
          <a:prstGeom prst="rect">
            <a:avLst/>
          </a:prstGeom>
          <a:noFill/>
          <a:ln w="9525">
            <a:noFill/>
            <a:miter lim="800000"/>
            <a:headEnd/>
            <a:tailEnd/>
          </a:ln>
          <a:effectLst/>
        </p:spPr>
      </p:pic>
      <p:sp>
        <p:nvSpPr>
          <p:cNvPr id="5" name="TextBox 4"/>
          <p:cNvSpPr txBox="1"/>
          <p:nvPr/>
        </p:nvSpPr>
        <p:spPr>
          <a:xfrm>
            <a:off x="9067800" y="1676400"/>
            <a:ext cx="2133600" cy="2246769"/>
          </a:xfrm>
          <a:prstGeom prst="rect">
            <a:avLst/>
          </a:prstGeom>
          <a:noFill/>
        </p:spPr>
        <p:txBody>
          <a:bodyPr wrap="square" rtlCol="0">
            <a:spAutoFit/>
          </a:bodyPr>
          <a:lstStyle/>
          <a:p>
            <a:r>
              <a:rPr lang="en-US" sz="2000" b="1" dirty="0">
                <a:solidFill>
                  <a:schemeClr val="tx1"/>
                </a:solidFill>
              </a:rPr>
              <a:t>Honda ,</a:t>
            </a:r>
            <a:r>
              <a:rPr lang="en-US" sz="2000" b="1" dirty="0" err="1">
                <a:solidFill>
                  <a:schemeClr val="tx1"/>
                </a:solidFill>
              </a:rPr>
              <a:t>Hero,Bajaj,TVS,Yamaha,Suzuki</a:t>
            </a:r>
            <a:r>
              <a:rPr lang="en-US" sz="2000" b="1" dirty="0">
                <a:solidFill>
                  <a:schemeClr val="tx1"/>
                </a:solidFill>
              </a:rPr>
              <a:t> are the  brands available for the budget of 20 to 50 thousand</a:t>
            </a:r>
          </a:p>
        </p:txBody>
      </p:sp>
      <p:pic>
        <p:nvPicPr>
          <p:cNvPr id="6" name="object 4" descr="Innomatics Research labs - Crunchbase Company Profile &amp; Funding"/>
          <p:cNvPicPr/>
          <p:nvPr/>
        </p:nvPicPr>
        <p:blipFill>
          <a:blip r:embed="rId3" cstate="print"/>
          <a:stretch>
            <a:fillRect/>
          </a:stretch>
        </p:blipFill>
        <p:spPr>
          <a:xfrm>
            <a:off x="9648825" y="6276975"/>
            <a:ext cx="2333625" cy="4286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4B86C-FB8E-726A-BE1E-7C3F1C6DF214}"/>
              </a:ext>
            </a:extLst>
          </p:cNvPr>
          <p:cNvSpPr>
            <a:spLocks noGrp="1"/>
          </p:cNvSpPr>
          <p:nvPr>
            <p:ph type="title"/>
          </p:nvPr>
        </p:nvSpPr>
        <p:spPr>
          <a:xfrm>
            <a:off x="838200" y="1"/>
            <a:ext cx="10515600" cy="914399"/>
          </a:xfrm>
        </p:spPr>
        <p:txBody>
          <a:bodyPr/>
          <a:lstStyle/>
          <a:p>
            <a:r>
              <a:rPr lang="en-US" b="1" dirty="0">
                <a:solidFill>
                  <a:srgbClr val="C00000"/>
                </a:solidFill>
              </a:rPr>
              <a:t>Hypothesis testing</a:t>
            </a:r>
            <a:endParaRPr lang="en-IN" b="1" dirty="0">
              <a:solidFill>
                <a:srgbClr val="C00000"/>
              </a:solidFill>
            </a:endParaRPr>
          </a:p>
        </p:txBody>
      </p:sp>
      <p:sp>
        <p:nvSpPr>
          <p:cNvPr id="3" name="Content Placeholder 2">
            <a:extLst>
              <a:ext uri="{FF2B5EF4-FFF2-40B4-BE49-F238E27FC236}">
                <a16:creationId xmlns:a16="http://schemas.microsoft.com/office/drawing/2014/main" id="{8BD5F955-675D-B81A-17D6-BAE00E114796}"/>
              </a:ext>
            </a:extLst>
          </p:cNvPr>
          <p:cNvSpPr>
            <a:spLocks noGrp="1"/>
          </p:cNvSpPr>
          <p:nvPr>
            <p:ph idx="1"/>
          </p:nvPr>
        </p:nvSpPr>
        <p:spPr>
          <a:xfrm>
            <a:off x="838200" y="914400"/>
            <a:ext cx="10515600" cy="5262563"/>
          </a:xfrm>
        </p:spPr>
        <p:txBody>
          <a:bodyPr>
            <a:normAutofit/>
          </a:bodyPr>
          <a:lstStyle/>
          <a:p>
            <a:r>
              <a:rPr lang="en-US" dirty="0"/>
              <a:t>To statistically validate whether the KM Driven significantly influence the Price of Second-Hand Bikes.</a:t>
            </a:r>
          </a:p>
          <a:p>
            <a:r>
              <a:rPr lang="en-IN" dirty="0"/>
              <a:t>Hypothesis </a:t>
            </a:r>
            <a:r>
              <a:rPr lang="en-IN" b="1" dirty="0"/>
              <a:t>– </a:t>
            </a:r>
            <a:r>
              <a:rPr lang="en-IN" dirty="0"/>
              <a:t>KM Driven vs Price</a:t>
            </a:r>
          </a:p>
          <a:p>
            <a:r>
              <a:rPr lang="en-IN" dirty="0"/>
              <a:t>H0 (Null Hypothesis): KM Driven does not affect Bike Price.</a:t>
            </a:r>
          </a:p>
          <a:p>
            <a:r>
              <a:rPr lang="en-IN" dirty="0"/>
              <a:t>H1 (Alternative Hypothesis): KM Driven negatively affects Bike Price.</a:t>
            </a:r>
          </a:p>
          <a:p>
            <a:r>
              <a:rPr lang="en-IN" dirty="0"/>
              <a:t>Test Method</a:t>
            </a:r>
            <a:r>
              <a:rPr lang="en-IN" b="1" dirty="0"/>
              <a:t>:</a:t>
            </a:r>
            <a:r>
              <a:rPr lang="en-IN" dirty="0"/>
              <a:t> Pearson Correlation</a:t>
            </a:r>
            <a:br>
              <a:rPr lang="en-IN" dirty="0"/>
            </a:br>
            <a:r>
              <a:rPr lang="en-US" dirty="0"/>
              <a:t>Correlation (KM vs Price): 0.5308350020895821</a:t>
            </a:r>
          </a:p>
          <a:p>
            <a:r>
              <a:rPr lang="en-IN" dirty="0"/>
              <a:t>P value:2.2758926087520894e-06  (This means 0.00000227)</a:t>
            </a:r>
          </a:p>
          <a:p>
            <a:r>
              <a:rPr lang="en-US" dirty="0"/>
              <a:t>If p &lt; 0.05 → Reject H0</a:t>
            </a:r>
            <a:endParaRPr lang="en-IN" dirty="0"/>
          </a:p>
          <a:p>
            <a:r>
              <a:rPr lang="en-IN" b="1" dirty="0"/>
              <a:t>Conclusion:</a:t>
            </a:r>
            <a:r>
              <a:rPr lang="en-US" dirty="0"/>
              <a:t>Hypothesis testing statistically validated that the KM Driven significantly influence second-hand bike pricing.</a:t>
            </a:r>
            <a:endParaRPr lang="en-IN" b="1" dirty="0"/>
          </a:p>
        </p:txBody>
      </p:sp>
    </p:spTree>
    <p:extLst>
      <p:ext uri="{BB962C8B-B14F-4D97-AF65-F5344CB8AC3E}">
        <p14:creationId xmlns:p14="http://schemas.microsoft.com/office/powerpoint/2010/main" val="3507463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B98B-E1B4-91F4-CE27-777D4FCE0FE9}"/>
              </a:ext>
            </a:extLst>
          </p:cNvPr>
          <p:cNvSpPr>
            <a:spLocks noGrp="1"/>
          </p:cNvSpPr>
          <p:nvPr>
            <p:ph type="title"/>
          </p:nvPr>
        </p:nvSpPr>
        <p:spPr/>
        <p:txBody>
          <a:bodyPr/>
          <a:lstStyle/>
          <a:p>
            <a:r>
              <a:rPr lang="en-US" b="1" dirty="0">
                <a:solidFill>
                  <a:srgbClr val="C00000"/>
                </a:solidFill>
              </a:rPr>
              <a:t>Key insights</a:t>
            </a:r>
            <a:endParaRPr lang="en-IN" b="1" dirty="0">
              <a:solidFill>
                <a:srgbClr val="C00000"/>
              </a:solidFill>
            </a:endParaRPr>
          </a:p>
        </p:txBody>
      </p:sp>
      <p:sp>
        <p:nvSpPr>
          <p:cNvPr id="5" name="Content Placeholder 4">
            <a:extLst>
              <a:ext uri="{FF2B5EF4-FFF2-40B4-BE49-F238E27FC236}">
                <a16:creationId xmlns:a16="http://schemas.microsoft.com/office/drawing/2014/main" id="{73730788-603A-7811-08C8-8BABDDCE6194}"/>
              </a:ext>
            </a:extLst>
          </p:cNvPr>
          <p:cNvSpPr>
            <a:spLocks noGrp="1"/>
          </p:cNvSpPr>
          <p:nvPr>
            <p:ph idx="1"/>
          </p:nvPr>
        </p:nvSpPr>
        <p:spPr>
          <a:xfrm>
            <a:off x="838200" y="1825625"/>
            <a:ext cx="11125200" cy="4351338"/>
          </a:xfrm>
        </p:spPr>
        <p:txBody>
          <a:bodyPr/>
          <a:lstStyle/>
          <a:p>
            <a:r>
              <a:rPr lang="en-US" dirty="0"/>
              <a:t>Year of registration is the strongest factor influencing resale price.</a:t>
            </a:r>
          </a:p>
          <a:p>
            <a:r>
              <a:rPr lang="en-US" dirty="0"/>
              <a:t>KM driven has a statistically significant but weaker negative impact on price.</a:t>
            </a:r>
          </a:p>
          <a:p>
            <a:r>
              <a:rPr lang="en-US" dirty="0"/>
              <a:t>A small group of premium brands (Ducati, BMW, Harley, Kawasaki, Benelli) heavily skews overall price averages,</a:t>
            </a:r>
            <a:endParaRPr lang="en-IN" dirty="0"/>
          </a:p>
        </p:txBody>
      </p:sp>
    </p:spTree>
    <p:extLst>
      <p:ext uri="{BB962C8B-B14F-4D97-AF65-F5344CB8AC3E}">
        <p14:creationId xmlns:p14="http://schemas.microsoft.com/office/powerpoint/2010/main" val="2713977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CONCLUSION</a:t>
            </a:r>
            <a:endParaRPr lang="en-IN" b="1" dirty="0">
              <a:solidFill>
                <a:srgbClr val="FF0000"/>
              </a:solidFill>
            </a:endParaRPr>
          </a:p>
        </p:txBody>
      </p:sp>
      <p:sp>
        <p:nvSpPr>
          <p:cNvPr id="3" name="Text Placeholder 2"/>
          <p:cNvSpPr>
            <a:spLocks noGrp="1"/>
          </p:cNvSpPr>
          <p:nvPr>
            <p:ph idx="1"/>
          </p:nvPr>
        </p:nvSpPr>
        <p:spPr/>
        <p:txBody>
          <a:bodyPr>
            <a:normAutofit/>
          </a:bodyPr>
          <a:lstStyle/>
          <a:p>
            <a:r>
              <a:rPr lang="en-US" sz="2400" dirty="0"/>
              <a:t>After Scraping  and analyzing the data from BikeKharido.com  it is evident that More than Registered year, Km’s driven and Brand are influencing the price of a Bike.</a:t>
            </a:r>
          </a:p>
          <a:p>
            <a:r>
              <a:rPr lang="en-US" sz="2400" dirty="0"/>
              <a:t>Most Penetrated brand is Bajaj where as most performing brand is </a:t>
            </a:r>
            <a:r>
              <a:rPr lang="en-US" sz="2400" dirty="0" err="1"/>
              <a:t>suzuki</a:t>
            </a:r>
            <a:r>
              <a:rPr lang="en-US" sz="2400" dirty="0"/>
              <a:t>.</a:t>
            </a:r>
          </a:p>
          <a:p>
            <a:r>
              <a:rPr lang="en-US" sz="2400" dirty="0"/>
              <a:t>Metropolitan cities have diverse choices than other areas.</a:t>
            </a:r>
          </a:p>
          <a:p>
            <a:r>
              <a:rPr lang="en-US" sz="2400" dirty="0"/>
              <a:t>The lesser distance the bike had travelled the more expensive the bike would be.</a:t>
            </a:r>
          </a:p>
          <a:p>
            <a:r>
              <a:rPr lang="en-US" sz="2400" dirty="0"/>
              <a:t>How  latest the bike is  as expensive it would be.</a:t>
            </a:r>
          </a:p>
          <a:p>
            <a:endParaRPr lang="en-IN" sz="2400" dirty="0"/>
          </a:p>
        </p:txBody>
      </p:sp>
      <p:pic>
        <p:nvPicPr>
          <p:cNvPr id="4" name="object 4" descr="Innomatics Research labs - Crunchbase Company Profile &amp; Funding"/>
          <p:cNvPicPr/>
          <p:nvPr/>
        </p:nvPicPr>
        <p:blipFill>
          <a:blip r:embed="rId2" cstate="print"/>
          <a:stretch>
            <a:fillRect/>
          </a:stretch>
        </p:blipFill>
        <p:spPr>
          <a:xfrm>
            <a:off x="9648825" y="6276975"/>
            <a:ext cx="2333625" cy="428625"/>
          </a:xfrm>
          <a:prstGeom prst="rect">
            <a:avLst/>
          </a:prstGeom>
        </p:spPr>
      </p:pic>
    </p:spTree>
    <p:extLst>
      <p:ext uri="{BB962C8B-B14F-4D97-AF65-F5344CB8AC3E}">
        <p14:creationId xmlns:p14="http://schemas.microsoft.com/office/powerpoint/2010/main" val="1473959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2000</TotalTime>
  <Words>989</Words>
  <Application>Microsoft Office PowerPoint</Application>
  <PresentationFormat>Widescreen</PresentationFormat>
  <Paragraphs>91</Paragraphs>
  <Slides>23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Calibri Light</vt:lpstr>
      <vt:lpstr>Algerian</vt:lpstr>
      <vt:lpstr>Libre Baskerville</vt:lpstr>
      <vt:lpstr>Arial</vt:lpstr>
      <vt:lpstr>Calibri</vt:lpstr>
      <vt:lpstr>Office Theme</vt:lpstr>
      <vt:lpstr>PowerPoint Presentation</vt:lpstr>
      <vt:lpstr>Agenda</vt:lpstr>
      <vt:lpstr>Business problem</vt:lpstr>
      <vt:lpstr>Problem statement:</vt:lpstr>
      <vt:lpstr>Motives</vt:lpstr>
      <vt:lpstr>Raw Data </vt:lpstr>
      <vt:lpstr>Data preprocessing</vt:lpstr>
      <vt:lpstr>Quick view of Cleaned data </vt:lpstr>
      <vt:lpstr>Type and shape of data </vt:lpstr>
      <vt:lpstr>Finding correlation of data</vt:lpstr>
      <vt:lpstr>What is the average price of second hand bike and Evaluate the reason for such price(high or low)?</vt:lpstr>
      <vt:lpstr>What are those Expensive Bikes?</vt:lpstr>
      <vt:lpstr>Listings of bikes in different brands</vt:lpstr>
      <vt:lpstr>Taking Year into consideration</vt:lpstr>
      <vt:lpstr>Range of bikes price based on brand?</vt:lpstr>
      <vt:lpstr>Top performing Brands </vt:lpstr>
      <vt:lpstr>Year vs Price </vt:lpstr>
      <vt:lpstr>Where you might get more options?</vt:lpstr>
      <vt:lpstr>When the budget is between 20 thousand to 50 thousand what are the brands available in this budget? </vt:lpstr>
      <vt:lpstr>Hypothesis testing</vt:lpstr>
      <vt:lpstr>Key insights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Raghu Ram Aduri</dc:creator>
  <cp:lastModifiedBy>litan wheelers</cp:lastModifiedBy>
  <cp:revision>148</cp:revision>
  <dcterms:created xsi:type="dcterms:W3CDTF">2021-02-16T05:19:01Z</dcterms:created>
  <dcterms:modified xsi:type="dcterms:W3CDTF">2026-01-31T11:13:07Z</dcterms:modified>
</cp:coreProperties>
</file>